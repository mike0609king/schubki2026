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hape 0"/>
          <p:cNvSpPr/>
          <p:nvPr/>
        </p:nvSpPr>
        <p:spPr>
          <a:xfrm>
            <a:off x="0" y="-1"/>
            <a:ext cx="9144000" cy="73154"/>
          </a:xfrm>
          <a:prstGeom prst="rect">
            <a:avLst/>
          </a:prstGeom>
          <a:solidFill>
            <a:srgbClr val="2EE5B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Text 1"/>
          <p:cNvSpPr txBox="1"/>
          <p:nvPr/>
        </p:nvSpPr>
        <p:spPr>
          <a:xfrm>
            <a:off x="365760" y="1178867"/>
            <a:ext cx="47548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2EE5BA"/>
                </a:solidFill>
              </a:defRPr>
            </a:lvl1pPr>
          </a:lstStyle>
          <a:p>
            <a:pPr/>
            <a:r>
              <a:t>CONSTRUCTOR TECHNOLOGY  ·  EEG MIND READING</a:t>
            </a:r>
          </a:p>
        </p:txBody>
      </p:sp>
      <p:sp>
        <p:nvSpPr>
          <p:cNvPr id="23" name="Text 2"/>
          <p:cNvSpPr txBox="1"/>
          <p:nvPr/>
        </p:nvSpPr>
        <p:spPr>
          <a:xfrm>
            <a:off x="365760" y="1593066"/>
            <a:ext cx="4754880" cy="65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200">
                <a:solidFill>
                  <a:srgbClr val="FFFFFF"/>
                </a:solidFill>
              </a:defRPr>
            </a:lvl1pPr>
          </a:lstStyle>
          <a:p>
            <a:pPr/>
            <a:r>
              <a:t>Telepathy</a:t>
            </a:r>
          </a:p>
        </p:txBody>
      </p:sp>
      <p:sp>
        <p:nvSpPr>
          <p:cNvPr id="24" name="Text 3"/>
          <p:cNvSpPr txBox="1"/>
          <p:nvPr/>
        </p:nvSpPr>
        <p:spPr>
          <a:xfrm>
            <a:off x="352826" y="2957311"/>
            <a:ext cx="4389121" cy="533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>
                <a:solidFill>
                  <a:srgbClr val="94A3B8"/>
                </a:solidFill>
              </a:defRPr>
            </a:pPr>
            <a:r>
              <a:t>Decoding visual perception</a:t>
            </a:r>
          </a:p>
          <a:p>
            <a:pPr>
              <a:defRPr>
                <a:solidFill>
                  <a:srgbClr val="94A3B8"/>
                </a:solidFill>
              </a:defRPr>
            </a:pPr>
            <a:r>
              <a:t>from EEG signals</a:t>
            </a:r>
          </a:p>
        </p:txBody>
      </p:sp>
      <p:sp>
        <p:nvSpPr>
          <p:cNvPr id="25" name="Shape 4"/>
          <p:cNvSpPr/>
          <p:nvPr/>
        </p:nvSpPr>
        <p:spPr>
          <a:xfrm>
            <a:off x="365759" y="3685859"/>
            <a:ext cx="1463042" cy="1"/>
          </a:xfrm>
          <a:prstGeom prst="line">
            <a:avLst/>
          </a:prstGeom>
          <a:ln w="31750">
            <a:solidFill>
              <a:srgbClr val="2EE5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Text 5"/>
          <p:cNvSpPr txBox="1"/>
          <p:nvPr/>
        </p:nvSpPr>
        <p:spPr>
          <a:xfrm>
            <a:off x="352826" y="3880661"/>
            <a:ext cx="41148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Hackathon Pitch  ·  October 2026</a:t>
            </a:r>
          </a:p>
        </p:txBody>
      </p:sp>
      <p:sp>
        <p:nvSpPr>
          <p:cNvPr id="27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E35">
              <a:alpha val="7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7"/>
          <p:cNvSpPr txBox="1"/>
          <p:nvPr/>
        </p:nvSpPr>
        <p:spPr>
          <a:xfrm>
            <a:off x="365759" y="4892084"/>
            <a:ext cx="6858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B0C0D0"/>
                </a:solidFill>
              </a:defRPr>
            </a:lvl1pPr>
          </a:lstStyle>
          <a:p>
            <a:pPr/>
            <a:r>
              <a:t>Telepathy  |  Constructor Technology EEG Challenge</a:t>
            </a:r>
          </a:p>
        </p:txBody>
      </p:sp>
      <p:sp>
        <p:nvSpPr>
          <p:cNvPr id="29" name="Yetkin Zambelli | Mike Mengjie Huang"/>
          <p:cNvSpPr txBox="1"/>
          <p:nvPr/>
        </p:nvSpPr>
        <p:spPr>
          <a:xfrm>
            <a:off x="332329" y="2336314"/>
            <a:ext cx="3685057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Yetkin Zambelli | Mike Mengjie Huang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Shape 0"/>
          <p:cNvSpPr/>
          <p:nvPr/>
        </p:nvSpPr>
        <p:spPr>
          <a:xfrm>
            <a:off x="320040" y="1051560"/>
            <a:ext cx="8503920" cy="3611880"/>
          </a:xfrm>
          <a:prstGeom prst="roundRect">
            <a:avLst>
              <a:gd name="adj" fmla="val 2532"/>
            </a:avLst>
          </a:prstGeom>
          <a:solidFill>
            <a:srgbClr val="0F1E35">
              <a:alpha val="8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1"/>
          <p:cNvSpPr txBox="1"/>
          <p:nvPr/>
        </p:nvSpPr>
        <p:spPr>
          <a:xfrm>
            <a:off x="411480" y="227515"/>
            <a:ext cx="8229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300">
                <a:solidFill>
                  <a:srgbClr val="2EE5BA"/>
                </a:solidFill>
              </a:defRPr>
            </a:lvl1pPr>
          </a:lstStyle>
          <a:p>
            <a:pPr/>
            <a:r>
              <a:t>THE CHALLENGE</a:t>
            </a:r>
          </a:p>
        </p:txBody>
      </p:sp>
      <p:sp>
        <p:nvSpPr>
          <p:cNvPr id="34" name="Text 2"/>
          <p:cNvSpPr txBox="1"/>
          <p:nvPr/>
        </p:nvSpPr>
        <p:spPr>
          <a:xfrm>
            <a:off x="411479" y="366393"/>
            <a:ext cx="8321042" cy="785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Identify which video someone is watching from their EEG</a:t>
            </a:r>
          </a:p>
        </p:txBody>
      </p:sp>
      <p:sp>
        <p:nvSpPr>
          <p:cNvPr id="35" name="Text 3"/>
          <p:cNvSpPr txBox="1"/>
          <p:nvPr/>
        </p:nvSpPr>
        <p:spPr>
          <a:xfrm>
            <a:off x="548639" y="1665148"/>
            <a:ext cx="2560322" cy="510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2EE5BA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6" name="Text 4"/>
          <p:cNvSpPr txBox="1"/>
          <p:nvPr/>
        </p:nvSpPr>
        <p:spPr>
          <a:xfrm>
            <a:off x="548639" y="2410023"/>
            <a:ext cx="256032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Training subjects</a:t>
            </a:r>
          </a:p>
        </p:txBody>
      </p:sp>
      <p:sp>
        <p:nvSpPr>
          <p:cNvPr id="37" name="Text 5"/>
          <p:cNvSpPr txBox="1"/>
          <p:nvPr/>
        </p:nvSpPr>
        <p:spPr>
          <a:xfrm>
            <a:off x="548639" y="2831400"/>
            <a:ext cx="25603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94A3B8"/>
                </a:solidFill>
              </a:defRPr>
            </a:lvl1pPr>
          </a:lstStyle>
          <a:p>
            <a:pPr/>
            <a:r>
              <a:t>Full data for model selection</a:t>
            </a:r>
          </a:p>
        </p:txBody>
      </p:sp>
      <p:sp>
        <p:nvSpPr>
          <p:cNvPr id="38" name="Text 6"/>
          <p:cNvSpPr txBox="1"/>
          <p:nvPr/>
        </p:nvSpPr>
        <p:spPr>
          <a:xfrm>
            <a:off x="3383279" y="1665148"/>
            <a:ext cx="2560321" cy="510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2EE5BA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9" name="Text 7"/>
          <p:cNvSpPr txBox="1"/>
          <p:nvPr/>
        </p:nvSpPr>
        <p:spPr>
          <a:xfrm>
            <a:off x="3383279" y="2410023"/>
            <a:ext cx="256032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Held-out subjects</a:t>
            </a:r>
          </a:p>
        </p:txBody>
      </p:sp>
      <p:sp>
        <p:nvSpPr>
          <p:cNvPr id="40" name="Text 8"/>
          <p:cNvSpPr txBox="1"/>
          <p:nvPr/>
        </p:nvSpPr>
        <p:spPr>
          <a:xfrm>
            <a:off x="3383279" y="2831400"/>
            <a:ext cx="25603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94A3B8"/>
                </a:solidFill>
              </a:defRPr>
            </a:lvl1pPr>
          </a:lstStyle>
          <a:p>
            <a:pPr/>
            <a:r>
              <a:t>Test generalization</a:t>
            </a:r>
          </a:p>
        </p:txBody>
      </p:sp>
      <p:sp>
        <p:nvSpPr>
          <p:cNvPr id="41" name="Text 9"/>
          <p:cNvSpPr txBox="1"/>
          <p:nvPr/>
        </p:nvSpPr>
        <p:spPr>
          <a:xfrm>
            <a:off x="6217920" y="1665148"/>
            <a:ext cx="2560321" cy="510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2EE5BA"/>
                </a:solidFill>
              </a:defRPr>
            </a:lvl1pPr>
          </a:lstStyle>
          <a:p>
            <a:pPr/>
            <a:r>
              <a:t>102</a:t>
            </a:r>
          </a:p>
        </p:txBody>
      </p:sp>
      <p:sp>
        <p:nvSpPr>
          <p:cNvPr id="42" name="Text 10"/>
          <p:cNvSpPr txBox="1"/>
          <p:nvPr/>
        </p:nvSpPr>
        <p:spPr>
          <a:xfrm>
            <a:off x="6217920" y="2410023"/>
            <a:ext cx="256032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Test candidates</a:t>
            </a:r>
          </a:p>
        </p:txBody>
      </p:sp>
      <p:sp>
        <p:nvSpPr>
          <p:cNvPr id="43" name="Text 11"/>
          <p:cNvSpPr txBox="1"/>
          <p:nvPr/>
        </p:nvSpPr>
        <p:spPr>
          <a:xfrm>
            <a:off x="6217920" y="2831400"/>
            <a:ext cx="25603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94A3B8"/>
                </a:solidFill>
              </a:defRPr>
            </a:lvl1pPr>
          </a:lstStyle>
          <a:p>
            <a:pPr/>
            <a:r>
              <a:t>Rank by Pearson correlation</a:t>
            </a:r>
          </a:p>
        </p:txBody>
      </p:sp>
      <p:sp>
        <p:nvSpPr>
          <p:cNvPr id="44" name="Text 12"/>
          <p:cNvSpPr txBox="1"/>
          <p:nvPr/>
        </p:nvSpPr>
        <p:spPr>
          <a:xfrm>
            <a:off x="548640" y="3518601"/>
            <a:ext cx="8046719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Goal: scientifically grounded models that generalize beyond training subjects.</a:t>
            </a:r>
          </a:p>
        </p:txBody>
      </p:sp>
      <p:sp>
        <p:nvSpPr>
          <p:cNvPr id="45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E35">
              <a:alpha val="7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14"/>
          <p:cNvSpPr txBox="1"/>
          <p:nvPr/>
        </p:nvSpPr>
        <p:spPr>
          <a:xfrm>
            <a:off x="365759" y="4892084"/>
            <a:ext cx="6858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B0C0D0"/>
                </a:solidFill>
              </a:defRPr>
            </a:lvl1pPr>
          </a:lstStyle>
          <a:p>
            <a:pPr/>
            <a:r>
              <a:t>Telepathy  |  Constructor Technology EEG Challenge</a:t>
            </a:r>
          </a:p>
        </p:txBody>
      </p:sp>
      <p:sp>
        <p:nvSpPr>
          <p:cNvPr id="47" name="Text 15"/>
          <p:cNvSpPr txBox="1"/>
          <p:nvPr/>
        </p:nvSpPr>
        <p:spPr>
          <a:xfrm>
            <a:off x="8412480" y="4892084"/>
            <a:ext cx="457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B0C0D0"/>
                </a:solidFill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Shape 0"/>
          <p:cNvSpPr/>
          <p:nvPr/>
        </p:nvSpPr>
        <p:spPr>
          <a:xfrm>
            <a:off x="320040" y="1051560"/>
            <a:ext cx="8503920" cy="3611880"/>
          </a:xfrm>
          <a:prstGeom prst="roundRect">
            <a:avLst>
              <a:gd name="adj" fmla="val 2532"/>
            </a:avLst>
          </a:prstGeom>
          <a:solidFill>
            <a:srgbClr val="0F1E35">
              <a:alpha val="8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1"/>
          <p:cNvSpPr txBox="1"/>
          <p:nvPr/>
        </p:nvSpPr>
        <p:spPr>
          <a:xfrm>
            <a:off x="411480" y="227515"/>
            <a:ext cx="8229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300">
                <a:solidFill>
                  <a:srgbClr val="2EE5BA"/>
                </a:solidFill>
              </a:defRPr>
            </a:lvl1pPr>
          </a:lstStyle>
          <a:p>
            <a:pPr/>
            <a:r>
              <a:t>ML PIPELINE</a:t>
            </a:r>
          </a:p>
        </p:txBody>
      </p:sp>
      <p:sp>
        <p:nvSpPr>
          <p:cNvPr id="52" name="Text 2"/>
          <p:cNvSpPr txBox="1"/>
          <p:nvPr/>
        </p:nvSpPr>
        <p:spPr>
          <a:xfrm>
            <a:off x="411479" y="582293"/>
            <a:ext cx="8321042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Preprocessing → Features → Classification</a:t>
            </a:r>
          </a:p>
        </p:txBody>
      </p:sp>
      <p:sp>
        <p:nvSpPr>
          <p:cNvPr id="53" name="Text 3"/>
          <p:cNvSpPr txBox="1"/>
          <p:nvPr/>
        </p:nvSpPr>
        <p:spPr>
          <a:xfrm>
            <a:off x="502919" y="1342216"/>
            <a:ext cx="68580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2EE5BA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54" name="Text 4"/>
          <p:cNvSpPr txBox="1"/>
          <p:nvPr/>
        </p:nvSpPr>
        <p:spPr>
          <a:xfrm>
            <a:off x="1280160" y="1335603"/>
            <a:ext cx="210312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Preprocessing</a:t>
            </a:r>
          </a:p>
        </p:txBody>
      </p:sp>
      <p:sp>
        <p:nvSpPr>
          <p:cNvPr id="55" name="Text 5"/>
          <p:cNvSpPr txBox="1"/>
          <p:nvPr/>
        </p:nvSpPr>
        <p:spPr>
          <a:xfrm>
            <a:off x="3474720" y="1299780"/>
            <a:ext cx="512064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94A3B8"/>
                </a:solidFill>
              </a:defRPr>
            </a:lvl1pPr>
          </a:lstStyle>
          <a:p>
            <a:pPr/>
            <a:r>
              <a:t>Bandpass 0.5–75 Hz + 50 Hz notch (on top of provided filter &amp; blink removal)</a:t>
            </a:r>
          </a:p>
        </p:txBody>
      </p:sp>
      <p:sp>
        <p:nvSpPr>
          <p:cNvPr id="56" name="Text 6"/>
          <p:cNvSpPr txBox="1"/>
          <p:nvPr/>
        </p:nvSpPr>
        <p:spPr>
          <a:xfrm>
            <a:off x="502919" y="2146888"/>
            <a:ext cx="68580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2EE5BA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57" name="Text 7"/>
          <p:cNvSpPr txBox="1"/>
          <p:nvPr/>
        </p:nvSpPr>
        <p:spPr>
          <a:xfrm>
            <a:off x="1280160" y="2140275"/>
            <a:ext cx="210312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EEG Features</a:t>
            </a:r>
          </a:p>
        </p:txBody>
      </p:sp>
      <p:sp>
        <p:nvSpPr>
          <p:cNvPr id="58" name="Text 8"/>
          <p:cNvSpPr txBox="1"/>
          <p:nvPr/>
        </p:nvSpPr>
        <p:spPr>
          <a:xfrm>
            <a:off x="3474720" y="2218752"/>
            <a:ext cx="51206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94A3B8"/>
                </a:solidFill>
              </a:defRPr>
            </a:lvl1pPr>
          </a:lstStyle>
          <a:p>
            <a:pPr/>
            <a:r>
              <a:t>LaBraM, modified LaBraM (3s), LUNA, CBraMod + engineered features</a:t>
            </a:r>
          </a:p>
        </p:txBody>
      </p:sp>
      <p:sp>
        <p:nvSpPr>
          <p:cNvPr id="59" name="Text 9"/>
          <p:cNvSpPr txBox="1"/>
          <p:nvPr/>
        </p:nvSpPr>
        <p:spPr>
          <a:xfrm>
            <a:off x="502919" y="2951560"/>
            <a:ext cx="68580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2EE5BA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60" name="Text 10"/>
          <p:cNvSpPr txBox="1"/>
          <p:nvPr/>
        </p:nvSpPr>
        <p:spPr>
          <a:xfrm>
            <a:off x="1280160" y="2944947"/>
            <a:ext cx="210312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Video Features</a:t>
            </a:r>
          </a:p>
        </p:txBody>
      </p:sp>
      <p:sp>
        <p:nvSpPr>
          <p:cNvPr id="61" name="Text 11"/>
          <p:cNvSpPr txBox="1"/>
          <p:nvPr/>
        </p:nvSpPr>
        <p:spPr>
          <a:xfrm>
            <a:off x="3474720" y="3023424"/>
            <a:ext cx="51206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94A3B8"/>
                </a:solidFill>
              </a:defRPr>
            </a:lvl1pPr>
          </a:lstStyle>
          <a:p>
            <a:pPr/>
            <a:r>
              <a:t>OpenCLIP, DINOv2, AlexNet embeddings</a:t>
            </a:r>
          </a:p>
        </p:txBody>
      </p:sp>
      <p:sp>
        <p:nvSpPr>
          <p:cNvPr id="62" name="Text 12"/>
          <p:cNvSpPr txBox="1"/>
          <p:nvPr/>
        </p:nvSpPr>
        <p:spPr>
          <a:xfrm>
            <a:off x="502919" y="3756232"/>
            <a:ext cx="68580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2EE5BA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3" name="Text 13"/>
          <p:cNvSpPr txBox="1"/>
          <p:nvPr/>
        </p:nvSpPr>
        <p:spPr>
          <a:xfrm>
            <a:off x="1280160" y="3749619"/>
            <a:ext cx="210312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Classification</a:t>
            </a:r>
          </a:p>
        </p:txBody>
      </p:sp>
      <p:sp>
        <p:nvSpPr>
          <p:cNvPr id="64" name="Text 14"/>
          <p:cNvSpPr txBox="1"/>
          <p:nvPr/>
        </p:nvSpPr>
        <p:spPr>
          <a:xfrm>
            <a:off x="3474720" y="3713796"/>
            <a:ext cx="512064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94A3B8"/>
                </a:solidFill>
              </a:defRPr>
            </a:lvl1pPr>
          </a:lstStyle>
          <a:p>
            <a:pPr/>
            <a:r>
              <a:t>Per-subject RidgeCV: map video features → EEG response, rank by Pearson</a:t>
            </a:r>
          </a:p>
        </p:txBody>
      </p:sp>
      <p:sp>
        <p:nvSpPr>
          <p:cNvPr id="65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E35">
              <a:alpha val="7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16"/>
          <p:cNvSpPr txBox="1"/>
          <p:nvPr/>
        </p:nvSpPr>
        <p:spPr>
          <a:xfrm>
            <a:off x="365759" y="4892084"/>
            <a:ext cx="6858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B0C0D0"/>
                </a:solidFill>
              </a:defRPr>
            </a:lvl1pPr>
          </a:lstStyle>
          <a:p>
            <a:pPr/>
            <a:r>
              <a:t>Telepathy  |  Constructor Technology EEG Challenge</a:t>
            </a:r>
          </a:p>
        </p:txBody>
      </p:sp>
      <p:sp>
        <p:nvSpPr>
          <p:cNvPr id="67" name="Text 17"/>
          <p:cNvSpPr txBox="1"/>
          <p:nvPr/>
        </p:nvSpPr>
        <p:spPr>
          <a:xfrm>
            <a:off x="8412480" y="4892084"/>
            <a:ext cx="457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B0C0D0"/>
                </a:solidFill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Shape 0"/>
          <p:cNvSpPr/>
          <p:nvPr/>
        </p:nvSpPr>
        <p:spPr>
          <a:xfrm>
            <a:off x="320040" y="1051560"/>
            <a:ext cx="8503920" cy="3611880"/>
          </a:xfrm>
          <a:prstGeom prst="roundRect">
            <a:avLst>
              <a:gd name="adj" fmla="val 2532"/>
            </a:avLst>
          </a:prstGeom>
          <a:solidFill>
            <a:srgbClr val="0F1E35">
              <a:alpha val="8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1"/>
          <p:cNvSpPr txBox="1"/>
          <p:nvPr/>
        </p:nvSpPr>
        <p:spPr>
          <a:xfrm>
            <a:off x="411480" y="227515"/>
            <a:ext cx="8229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300">
                <a:solidFill>
                  <a:srgbClr val="2EE5BA"/>
                </a:solidFill>
              </a:defRPr>
            </a:lvl1pPr>
          </a:lstStyle>
          <a:p>
            <a:pPr/>
            <a:r>
              <a:t>CLASSIFICATION</a:t>
            </a:r>
          </a:p>
        </p:txBody>
      </p:sp>
      <p:sp>
        <p:nvSpPr>
          <p:cNvPr id="72" name="Text 2"/>
          <p:cNvSpPr txBox="1"/>
          <p:nvPr/>
        </p:nvSpPr>
        <p:spPr>
          <a:xfrm>
            <a:off x="411479" y="582293"/>
            <a:ext cx="8321042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Ridge regression on raw EEG</a:t>
            </a:r>
          </a:p>
        </p:txBody>
      </p:sp>
      <p:sp>
        <p:nvSpPr>
          <p:cNvPr id="73" name="Text 3"/>
          <p:cNvSpPr txBox="1"/>
          <p:nvPr/>
        </p:nvSpPr>
        <p:spPr>
          <a:xfrm>
            <a:off x="502919" y="1346901"/>
            <a:ext cx="2560322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EE5BA"/>
                </a:solidFill>
              </a:defRPr>
            </a:lvl1pPr>
          </a:lstStyle>
          <a:p>
            <a:pPr/>
            <a:r>
              <a:t>Per-subject RidgeCV</a:t>
            </a:r>
          </a:p>
        </p:txBody>
      </p:sp>
      <p:sp>
        <p:nvSpPr>
          <p:cNvPr id="74" name="Text 4"/>
          <p:cNvSpPr txBox="1"/>
          <p:nvPr/>
        </p:nvSpPr>
        <p:spPr>
          <a:xfrm>
            <a:off x="3200400" y="1391220"/>
            <a:ext cx="53035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5-fold CV, alphas = logspace(-3, 6, 10)</a:t>
            </a:r>
          </a:p>
        </p:txBody>
      </p:sp>
      <p:sp>
        <p:nvSpPr>
          <p:cNvPr id="75" name="Text 5"/>
          <p:cNvSpPr txBox="1"/>
          <p:nvPr/>
        </p:nvSpPr>
        <p:spPr>
          <a:xfrm>
            <a:off x="502919" y="1986982"/>
            <a:ext cx="256032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EE5BA"/>
                </a:solidFill>
              </a:defRPr>
            </a:lvl1pPr>
          </a:lstStyle>
          <a:p>
            <a:pPr/>
            <a:r>
              <a:t>Mapping</a:t>
            </a:r>
          </a:p>
        </p:txBody>
      </p:sp>
      <p:sp>
        <p:nvSpPr>
          <p:cNvPr id="76" name="Text 6"/>
          <p:cNvSpPr txBox="1"/>
          <p:nvPr/>
        </p:nvSpPr>
        <p:spPr>
          <a:xfrm>
            <a:off x="3200400" y="2031300"/>
            <a:ext cx="53035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PCA video features → full EEG response (17 ch × 300 samples)</a:t>
            </a:r>
          </a:p>
        </p:txBody>
      </p:sp>
      <p:sp>
        <p:nvSpPr>
          <p:cNvPr id="77" name="Text 7"/>
          <p:cNvSpPr txBox="1"/>
          <p:nvPr/>
        </p:nvSpPr>
        <p:spPr>
          <a:xfrm>
            <a:off x="502919" y="2627062"/>
            <a:ext cx="256032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EE5BA"/>
                </a:solidFill>
              </a:defRPr>
            </a:lvl1pPr>
          </a:lstStyle>
          <a:p>
            <a:pPr/>
            <a:r>
              <a:t>Selected alphas</a:t>
            </a:r>
          </a:p>
        </p:txBody>
      </p:sp>
      <p:sp>
        <p:nvSpPr>
          <p:cNvPr id="78" name="Text 8"/>
          <p:cNvSpPr txBox="1"/>
          <p:nvPr/>
        </p:nvSpPr>
        <p:spPr>
          <a:xfrm>
            <a:off x="3200400" y="2671380"/>
            <a:ext cx="53035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1e4 or 1e5 depending on subject</a:t>
            </a:r>
          </a:p>
        </p:txBody>
      </p:sp>
      <p:sp>
        <p:nvSpPr>
          <p:cNvPr id="79" name="Text 9"/>
          <p:cNvSpPr txBox="1"/>
          <p:nvPr/>
        </p:nvSpPr>
        <p:spPr>
          <a:xfrm>
            <a:off x="502919" y="3267142"/>
            <a:ext cx="256032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EE5BA"/>
                </a:solidFill>
              </a:defRPr>
            </a:lvl1pPr>
          </a:lstStyle>
          <a:p>
            <a:pPr/>
            <a:r>
              <a:t>Retrieval</a:t>
            </a:r>
          </a:p>
        </p:txBody>
      </p:sp>
      <p:sp>
        <p:nvSpPr>
          <p:cNvPr id="80" name="Text 10"/>
          <p:cNvSpPr txBox="1"/>
          <p:nvPr/>
        </p:nvSpPr>
        <p:spPr>
          <a:xfrm>
            <a:off x="3200400" y="3311460"/>
            <a:ext cx="53035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Predict EEG for each of 102 candidates, rank by Pearson correlation</a:t>
            </a:r>
          </a:p>
        </p:txBody>
      </p:sp>
      <p:sp>
        <p:nvSpPr>
          <p:cNvPr id="81" name="Text 11"/>
          <p:cNvSpPr txBox="1"/>
          <p:nvPr/>
        </p:nvSpPr>
        <p:spPr>
          <a:xfrm>
            <a:off x="502919" y="3907221"/>
            <a:ext cx="2560322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EE5BA"/>
                </a:solidFill>
              </a:defRPr>
            </a:lvl1pPr>
          </a:lstStyle>
          <a:p>
            <a:pPr/>
            <a:r>
              <a:t>Why it worked</a:t>
            </a:r>
          </a:p>
        </p:txBody>
      </p:sp>
      <p:sp>
        <p:nvSpPr>
          <p:cNvPr id="82" name="Text 12"/>
          <p:cNvSpPr txBox="1"/>
          <p:nvPr/>
        </p:nvSpPr>
        <p:spPr>
          <a:xfrm>
            <a:off x="3200400" y="3951540"/>
            <a:ext cx="53035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Strong regularization helped generalization; learned models overfit</a:t>
            </a:r>
          </a:p>
        </p:txBody>
      </p:sp>
      <p:sp>
        <p:nvSpPr>
          <p:cNvPr id="83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E35">
              <a:alpha val="7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14"/>
          <p:cNvSpPr txBox="1"/>
          <p:nvPr/>
        </p:nvSpPr>
        <p:spPr>
          <a:xfrm>
            <a:off x="365759" y="4892084"/>
            <a:ext cx="6858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B0C0D0"/>
                </a:solidFill>
              </a:defRPr>
            </a:lvl1pPr>
          </a:lstStyle>
          <a:p>
            <a:pPr/>
            <a:r>
              <a:t>Telepathy  |  Constructor Technology EEG Challenge</a:t>
            </a:r>
          </a:p>
        </p:txBody>
      </p:sp>
      <p:sp>
        <p:nvSpPr>
          <p:cNvPr id="85" name="Text 15"/>
          <p:cNvSpPr txBox="1"/>
          <p:nvPr/>
        </p:nvSpPr>
        <p:spPr>
          <a:xfrm>
            <a:off x="8412480" y="4892084"/>
            <a:ext cx="457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B0C0D0"/>
                </a:solidFill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Shape 0"/>
          <p:cNvSpPr/>
          <p:nvPr/>
        </p:nvSpPr>
        <p:spPr>
          <a:xfrm>
            <a:off x="320040" y="1051560"/>
            <a:ext cx="8503920" cy="3611880"/>
          </a:xfrm>
          <a:prstGeom prst="roundRect">
            <a:avLst>
              <a:gd name="adj" fmla="val 2532"/>
            </a:avLst>
          </a:prstGeom>
          <a:solidFill>
            <a:srgbClr val="0F1E35">
              <a:alpha val="8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1"/>
          <p:cNvSpPr txBox="1"/>
          <p:nvPr/>
        </p:nvSpPr>
        <p:spPr>
          <a:xfrm>
            <a:off x="411480" y="227515"/>
            <a:ext cx="8229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300">
                <a:solidFill>
                  <a:srgbClr val="2EE5BA"/>
                </a:solidFill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90" name="Text 2"/>
          <p:cNvSpPr txBox="1"/>
          <p:nvPr/>
        </p:nvSpPr>
        <p:spPr>
          <a:xfrm>
            <a:off x="411479" y="582293"/>
            <a:ext cx="8321042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Test retrieval (102 candidates)</a:t>
            </a:r>
          </a:p>
        </p:txBody>
      </p:sp>
      <p:sp>
        <p:nvSpPr>
          <p:cNvPr id="91" name="Text 3"/>
          <p:cNvSpPr txBox="1"/>
          <p:nvPr/>
        </p:nvSpPr>
        <p:spPr>
          <a:xfrm>
            <a:off x="502919" y="1288219"/>
            <a:ext cx="77724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94A3B8"/>
                </a:solidFill>
              </a:defRPr>
            </a:lvl1pPr>
          </a:lstStyle>
          <a:p>
            <a:pPr/>
            <a:r>
              <a:t>Chance: Top-1 = 0.98%  ·  Top-5 = 4.9%</a:t>
            </a:r>
          </a:p>
        </p:txBody>
      </p:sp>
      <p:sp>
        <p:nvSpPr>
          <p:cNvPr id="92" name="Text 4"/>
          <p:cNvSpPr txBox="1"/>
          <p:nvPr/>
        </p:nvSpPr>
        <p:spPr>
          <a:xfrm>
            <a:off x="548640" y="1653979"/>
            <a:ext cx="1371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EE5BA"/>
                </a:solidFill>
              </a:defRPr>
            </a:lvl1pPr>
          </a:lstStyle>
          <a:p>
            <a:pPr/>
            <a:r>
              <a:t>Subject</a:t>
            </a:r>
          </a:p>
        </p:txBody>
      </p:sp>
      <p:sp>
        <p:nvSpPr>
          <p:cNvPr id="93" name="Text 5"/>
          <p:cNvSpPr txBox="1"/>
          <p:nvPr/>
        </p:nvSpPr>
        <p:spPr>
          <a:xfrm>
            <a:off x="2194560" y="1653979"/>
            <a:ext cx="1371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EE5BA"/>
                </a:solidFill>
              </a:defRPr>
            </a:lvl1pPr>
          </a:lstStyle>
          <a:p>
            <a:pPr/>
            <a:r>
              <a:t>Top-1</a:t>
            </a:r>
          </a:p>
        </p:txBody>
      </p:sp>
      <p:sp>
        <p:nvSpPr>
          <p:cNvPr id="94" name="Text 6"/>
          <p:cNvSpPr txBox="1"/>
          <p:nvPr/>
        </p:nvSpPr>
        <p:spPr>
          <a:xfrm>
            <a:off x="3840479" y="1653979"/>
            <a:ext cx="1371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EE5BA"/>
                </a:solidFill>
              </a:defRPr>
            </a:lvl1pPr>
          </a:lstStyle>
          <a:p>
            <a:pPr/>
            <a:r>
              <a:t>Top-5</a:t>
            </a:r>
          </a:p>
        </p:txBody>
      </p:sp>
      <p:sp>
        <p:nvSpPr>
          <p:cNvPr id="95" name="Text 7"/>
          <p:cNvSpPr txBox="1"/>
          <p:nvPr/>
        </p:nvSpPr>
        <p:spPr>
          <a:xfrm>
            <a:off x="5486400" y="1653979"/>
            <a:ext cx="228600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EE5BA"/>
                </a:solidFill>
              </a:defRPr>
            </a:lvl1pPr>
          </a:lstStyle>
          <a:p>
            <a:pPr/>
            <a:r>
              <a:t>Median Rank</a:t>
            </a:r>
          </a:p>
        </p:txBody>
      </p:sp>
      <p:sp>
        <p:nvSpPr>
          <p:cNvPr id="96" name="Text 8"/>
          <p:cNvSpPr txBox="1"/>
          <p:nvPr/>
        </p:nvSpPr>
        <p:spPr>
          <a:xfrm>
            <a:off x="548640" y="2044263"/>
            <a:ext cx="13716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97" name="Text 9"/>
          <p:cNvSpPr txBox="1"/>
          <p:nvPr/>
        </p:nvSpPr>
        <p:spPr>
          <a:xfrm>
            <a:off x="2194560" y="2044263"/>
            <a:ext cx="13716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5.9%</a:t>
            </a:r>
          </a:p>
        </p:txBody>
      </p:sp>
      <p:sp>
        <p:nvSpPr>
          <p:cNvPr id="98" name="Text 10"/>
          <p:cNvSpPr txBox="1"/>
          <p:nvPr/>
        </p:nvSpPr>
        <p:spPr>
          <a:xfrm>
            <a:off x="3840479" y="2044263"/>
            <a:ext cx="13716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24.5%</a:t>
            </a:r>
          </a:p>
        </p:txBody>
      </p:sp>
      <p:sp>
        <p:nvSpPr>
          <p:cNvPr id="99" name="Text 11"/>
          <p:cNvSpPr txBox="1"/>
          <p:nvPr/>
        </p:nvSpPr>
        <p:spPr>
          <a:xfrm>
            <a:off x="5486400" y="2044263"/>
            <a:ext cx="228600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15.0</a:t>
            </a:r>
          </a:p>
        </p:txBody>
      </p:sp>
      <p:sp>
        <p:nvSpPr>
          <p:cNvPr id="100" name="Text 12"/>
          <p:cNvSpPr txBox="1"/>
          <p:nvPr/>
        </p:nvSpPr>
        <p:spPr>
          <a:xfrm>
            <a:off x="548640" y="2547183"/>
            <a:ext cx="13716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01" name="Text 13"/>
          <p:cNvSpPr txBox="1"/>
          <p:nvPr/>
        </p:nvSpPr>
        <p:spPr>
          <a:xfrm>
            <a:off x="2194560" y="2547183"/>
            <a:ext cx="13716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3.9%</a:t>
            </a:r>
          </a:p>
        </p:txBody>
      </p:sp>
      <p:sp>
        <p:nvSpPr>
          <p:cNvPr id="102" name="Text 14"/>
          <p:cNvSpPr txBox="1"/>
          <p:nvPr/>
        </p:nvSpPr>
        <p:spPr>
          <a:xfrm>
            <a:off x="3840479" y="2547183"/>
            <a:ext cx="13716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24.5%</a:t>
            </a:r>
          </a:p>
        </p:txBody>
      </p:sp>
      <p:sp>
        <p:nvSpPr>
          <p:cNvPr id="103" name="Text 15"/>
          <p:cNvSpPr txBox="1"/>
          <p:nvPr/>
        </p:nvSpPr>
        <p:spPr>
          <a:xfrm>
            <a:off x="5486400" y="2547183"/>
            <a:ext cx="228600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19.5</a:t>
            </a:r>
          </a:p>
        </p:txBody>
      </p:sp>
      <p:sp>
        <p:nvSpPr>
          <p:cNvPr id="104" name="Text 16"/>
          <p:cNvSpPr txBox="1"/>
          <p:nvPr/>
        </p:nvSpPr>
        <p:spPr>
          <a:xfrm>
            <a:off x="548640" y="3050103"/>
            <a:ext cx="13716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05" name="Text 17"/>
          <p:cNvSpPr txBox="1"/>
          <p:nvPr/>
        </p:nvSpPr>
        <p:spPr>
          <a:xfrm>
            <a:off x="2194560" y="3050103"/>
            <a:ext cx="13716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4.9%</a:t>
            </a:r>
          </a:p>
        </p:txBody>
      </p:sp>
      <p:sp>
        <p:nvSpPr>
          <p:cNvPr id="106" name="Text 18"/>
          <p:cNvSpPr txBox="1"/>
          <p:nvPr/>
        </p:nvSpPr>
        <p:spPr>
          <a:xfrm>
            <a:off x="3840479" y="3050103"/>
            <a:ext cx="13716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17.7%</a:t>
            </a:r>
          </a:p>
        </p:txBody>
      </p:sp>
      <p:sp>
        <p:nvSpPr>
          <p:cNvPr id="107" name="Text 19"/>
          <p:cNvSpPr txBox="1"/>
          <p:nvPr/>
        </p:nvSpPr>
        <p:spPr>
          <a:xfrm>
            <a:off x="5486400" y="3050103"/>
            <a:ext cx="228600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20.5</a:t>
            </a:r>
          </a:p>
        </p:txBody>
      </p:sp>
      <p:sp>
        <p:nvSpPr>
          <p:cNvPr id="108" name="Text 20"/>
          <p:cNvSpPr txBox="1"/>
          <p:nvPr/>
        </p:nvSpPr>
        <p:spPr>
          <a:xfrm>
            <a:off x="548640" y="3553023"/>
            <a:ext cx="13716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09" name="Text 21"/>
          <p:cNvSpPr txBox="1"/>
          <p:nvPr/>
        </p:nvSpPr>
        <p:spPr>
          <a:xfrm>
            <a:off x="2194560" y="3553023"/>
            <a:ext cx="13716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4.9%</a:t>
            </a:r>
          </a:p>
        </p:txBody>
      </p:sp>
      <p:sp>
        <p:nvSpPr>
          <p:cNvPr id="110" name="Text 22"/>
          <p:cNvSpPr txBox="1"/>
          <p:nvPr/>
        </p:nvSpPr>
        <p:spPr>
          <a:xfrm>
            <a:off x="3840479" y="3553023"/>
            <a:ext cx="13716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14.7%</a:t>
            </a:r>
          </a:p>
        </p:txBody>
      </p:sp>
      <p:sp>
        <p:nvSpPr>
          <p:cNvPr id="111" name="Text 23"/>
          <p:cNvSpPr txBox="1"/>
          <p:nvPr/>
        </p:nvSpPr>
        <p:spPr>
          <a:xfrm>
            <a:off x="5486400" y="3553023"/>
            <a:ext cx="228600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22.5</a:t>
            </a:r>
          </a:p>
        </p:txBody>
      </p:sp>
      <p:sp>
        <p:nvSpPr>
          <p:cNvPr id="112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E35">
              <a:alpha val="7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25"/>
          <p:cNvSpPr txBox="1"/>
          <p:nvPr/>
        </p:nvSpPr>
        <p:spPr>
          <a:xfrm>
            <a:off x="365759" y="4892084"/>
            <a:ext cx="6858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B0C0D0"/>
                </a:solidFill>
              </a:defRPr>
            </a:lvl1pPr>
          </a:lstStyle>
          <a:p>
            <a:pPr/>
            <a:r>
              <a:t>Telepathy  |  Constructor Technology EEG Challenge</a:t>
            </a:r>
          </a:p>
        </p:txBody>
      </p:sp>
      <p:sp>
        <p:nvSpPr>
          <p:cNvPr id="114" name="Text 26"/>
          <p:cNvSpPr txBox="1"/>
          <p:nvPr/>
        </p:nvSpPr>
        <p:spPr>
          <a:xfrm>
            <a:off x="8412480" y="4892084"/>
            <a:ext cx="457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B0C0D0"/>
                </a:solidFill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Shape 0"/>
          <p:cNvSpPr/>
          <p:nvPr/>
        </p:nvSpPr>
        <p:spPr>
          <a:xfrm>
            <a:off x="320040" y="1051560"/>
            <a:ext cx="8503920" cy="3611880"/>
          </a:xfrm>
          <a:prstGeom prst="roundRect">
            <a:avLst>
              <a:gd name="adj" fmla="val 2532"/>
            </a:avLst>
          </a:prstGeom>
          <a:solidFill>
            <a:srgbClr val="0F1E35">
              <a:alpha val="8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1"/>
          <p:cNvSpPr txBox="1"/>
          <p:nvPr/>
        </p:nvSpPr>
        <p:spPr>
          <a:xfrm>
            <a:off x="411480" y="227515"/>
            <a:ext cx="8229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300">
                <a:solidFill>
                  <a:srgbClr val="2EE5BA"/>
                </a:solidFill>
              </a:defRPr>
            </a:lvl1pPr>
          </a:lstStyle>
          <a:p>
            <a:pPr/>
            <a:r>
              <a:t>FEATURE ABLATION</a:t>
            </a:r>
          </a:p>
        </p:txBody>
      </p:sp>
      <p:sp>
        <p:nvSpPr>
          <p:cNvPr id="119" name="Text 2"/>
          <p:cNvSpPr txBox="1"/>
          <p:nvPr/>
        </p:nvSpPr>
        <p:spPr>
          <a:xfrm>
            <a:off x="411479" y="582293"/>
            <a:ext cx="8321042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Subject 1 — what worked best</a:t>
            </a:r>
          </a:p>
        </p:txBody>
      </p:sp>
      <p:sp>
        <p:nvSpPr>
          <p:cNvPr id="120" name="Text 3"/>
          <p:cNvSpPr txBox="1"/>
          <p:nvPr/>
        </p:nvSpPr>
        <p:spPr>
          <a:xfrm>
            <a:off x="502919" y="1333939"/>
            <a:ext cx="29260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EE5BA"/>
                </a:solidFill>
              </a:defRPr>
            </a:lvl1pPr>
          </a:lstStyle>
          <a:p>
            <a:pPr/>
            <a:r>
              <a:t>Features</a:t>
            </a:r>
          </a:p>
        </p:txBody>
      </p:sp>
      <p:sp>
        <p:nvSpPr>
          <p:cNvPr id="121" name="Text 4"/>
          <p:cNvSpPr txBox="1"/>
          <p:nvPr/>
        </p:nvSpPr>
        <p:spPr>
          <a:xfrm>
            <a:off x="3566159" y="1333939"/>
            <a:ext cx="14630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EE5BA"/>
                </a:solidFill>
              </a:defRPr>
            </a:lvl1pPr>
          </a:lstStyle>
          <a:p>
            <a:pPr/>
            <a:r>
              <a:t>Test Top-1</a:t>
            </a:r>
          </a:p>
        </p:txBody>
      </p:sp>
      <p:sp>
        <p:nvSpPr>
          <p:cNvPr id="122" name="Text 5"/>
          <p:cNvSpPr txBox="1"/>
          <p:nvPr/>
        </p:nvSpPr>
        <p:spPr>
          <a:xfrm>
            <a:off x="5120640" y="1333939"/>
            <a:ext cx="14630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EE5BA"/>
                </a:solidFill>
              </a:defRPr>
            </a:lvl1pPr>
          </a:lstStyle>
          <a:p>
            <a:pPr/>
            <a:r>
              <a:t>Test Top-5</a:t>
            </a:r>
          </a:p>
        </p:txBody>
      </p:sp>
      <p:sp>
        <p:nvSpPr>
          <p:cNvPr id="123" name="Text 6"/>
          <p:cNvSpPr txBox="1"/>
          <p:nvPr/>
        </p:nvSpPr>
        <p:spPr>
          <a:xfrm>
            <a:off x="6675119" y="1333939"/>
            <a:ext cx="16459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EE5BA"/>
                </a:solidFill>
              </a:defRPr>
            </a:lvl1pPr>
          </a:lstStyle>
          <a:p>
            <a:pPr/>
            <a:r>
              <a:t>Median Rank</a:t>
            </a:r>
          </a:p>
        </p:txBody>
      </p:sp>
      <p:sp>
        <p:nvSpPr>
          <p:cNvPr id="124" name="Text 7"/>
          <p:cNvSpPr txBox="1"/>
          <p:nvPr/>
        </p:nvSpPr>
        <p:spPr>
          <a:xfrm>
            <a:off x="502919" y="1734120"/>
            <a:ext cx="292608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AlexNet features.3</a:t>
            </a:r>
          </a:p>
        </p:txBody>
      </p:sp>
      <p:sp>
        <p:nvSpPr>
          <p:cNvPr id="125" name="Text 8"/>
          <p:cNvSpPr txBox="1"/>
          <p:nvPr/>
        </p:nvSpPr>
        <p:spPr>
          <a:xfrm>
            <a:off x="3566159" y="1734120"/>
            <a:ext cx="14630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3.9%</a:t>
            </a:r>
          </a:p>
        </p:txBody>
      </p:sp>
      <p:sp>
        <p:nvSpPr>
          <p:cNvPr id="126" name="Text 9"/>
          <p:cNvSpPr txBox="1"/>
          <p:nvPr/>
        </p:nvSpPr>
        <p:spPr>
          <a:xfrm>
            <a:off x="5120640" y="1734120"/>
            <a:ext cx="14630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11.8%</a:t>
            </a:r>
          </a:p>
        </p:txBody>
      </p:sp>
      <p:sp>
        <p:nvSpPr>
          <p:cNvPr id="127" name="Text 10"/>
          <p:cNvSpPr txBox="1"/>
          <p:nvPr/>
        </p:nvSpPr>
        <p:spPr>
          <a:xfrm>
            <a:off x="6675119" y="1734120"/>
            <a:ext cx="16459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25.5</a:t>
            </a:r>
          </a:p>
        </p:txBody>
      </p:sp>
      <p:sp>
        <p:nvSpPr>
          <p:cNvPr id="128" name="Text 11"/>
          <p:cNvSpPr txBox="1"/>
          <p:nvPr/>
        </p:nvSpPr>
        <p:spPr>
          <a:xfrm>
            <a:off x="502919" y="2264472"/>
            <a:ext cx="292608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DINO blocks.6</a:t>
            </a:r>
          </a:p>
        </p:txBody>
      </p:sp>
      <p:sp>
        <p:nvSpPr>
          <p:cNvPr id="129" name="Text 12"/>
          <p:cNvSpPr txBox="1"/>
          <p:nvPr/>
        </p:nvSpPr>
        <p:spPr>
          <a:xfrm>
            <a:off x="3566159" y="2264472"/>
            <a:ext cx="14630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4.9%</a:t>
            </a:r>
          </a:p>
        </p:txBody>
      </p:sp>
      <p:sp>
        <p:nvSpPr>
          <p:cNvPr id="130" name="Text 13"/>
          <p:cNvSpPr txBox="1"/>
          <p:nvPr/>
        </p:nvSpPr>
        <p:spPr>
          <a:xfrm>
            <a:off x="5120640" y="2264472"/>
            <a:ext cx="14630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30.4%</a:t>
            </a:r>
          </a:p>
        </p:txBody>
      </p:sp>
      <p:sp>
        <p:nvSpPr>
          <p:cNvPr id="131" name="Text 14"/>
          <p:cNvSpPr txBox="1"/>
          <p:nvPr/>
        </p:nvSpPr>
        <p:spPr>
          <a:xfrm>
            <a:off x="6675119" y="2264472"/>
            <a:ext cx="16459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13.0</a:t>
            </a:r>
          </a:p>
        </p:txBody>
      </p:sp>
      <p:sp>
        <p:nvSpPr>
          <p:cNvPr id="132" name="Text 15"/>
          <p:cNvSpPr txBox="1"/>
          <p:nvPr/>
        </p:nvSpPr>
        <p:spPr>
          <a:xfrm>
            <a:off x="502919" y="2794824"/>
            <a:ext cx="292608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CLIP resblocks.6</a:t>
            </a:r>
          </a:p>
        </p:txBody>
      </p:sp>
      <p:sp>
        <p:nvSpPr>
          <p:cNvPr id="133" name="Text 16"/>
          <p:cNvSpPr txBox="1"/>
          <p:nvPr/>
        </p:nvSpPr>
        <p:spPr>
          <a:xfrm>
            <a:off x="3566159" y="2794824"/>
            <a:ext cx="14630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3.9%</a:t>
            </a:r>
          </a:p>
        </p:txBody>
      </p:sp>
      <p:sp>
        <p:nvSpPr>
          <p:cNvPr id="134" name="Text 17"/>
          <p:cNvSpPr txBox="1"/>
          <p:nvPr/>
        </p:nvSpPr>
        <p:spPr>
          <a:xfrm>
            <a:off x="5120640" y="2794824"/>
            <a:ext cx="14630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16.7%</a:t>
            </a:r>
          </a:p>
        </p:txBody>
      </p:sp>
      <p:sp>
        <p:nvSpPr>
          <p:cNvPr id="135" name="Text 18"/>
          <p:cNvSpPr txBox="1"/>
          <p:nvPr/>
        </p:nvSpPr>
        <p:spPr>
          <a:xfrm>
            <a:off x="6675119" y="2794824"/>
            <a:ext cx="16459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17.0</a:t>
            </a:r>
          </a:p>
        </p:txBody>
      </p:sp>
      <p:sp>
        <p:nvSpPr>
          <p:cNvPr id="136" name="Text 19"/>
          <p:cNvSpPr txBox="1"/>
          <p:nvPr/>
        </p:nvSpPr>
        <p:spPr>
          <a:xfrm>
            <a:off x="502919" y="3325176"/>
            <a:ext cx="292608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CLIP resblocks.7</a:t>
            </a:r>
          </a:p>
        </p:txBody>
      </p:sp>
      <p:sp>
        <p:nvSpPr>
          <p:cNvPr id="137" name="Text 20"/>
          <p:cNvSpPr txBox="1"/>
          <p:nvPr/>
        </p:nvSpPr>
        <p:spPr>
          <a:xfrm>
            <a:off x="3566159" y="3325176"/>
            <a:ext cx="14630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4.9%</a:t>
            </a:r>
          </a:p>
        </p:txBody>
      </p:sp>
      <p:sp>
        <p:nvSpPr>
          <p:cNvPr id="138" name="Text 21"/>
          <p:cNvSpPr txBox="1"/>
          <p:nvPr/>
        </p:nvSpPr>
        <p:spPr>
          <a:xfrm>
            <a:off x="5120640" y="3325176"/>
            <a:ext cx="14630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21.6%</a:t>
            </a:r>
          </a:p>
        </p:txBody>
      </p:sp>
      <p:sp>
        <p:nvSpPr>
          <p:cNvPr id="139" name="Text 22"/>
          <p:cNvSpPr txBox="1"/>
          <p:nvPr/>
        </p:nvSpPr>
        <p:spPr>
          <a:xfrm>
            <a:off x="6675119" y="3325176"/>
            <a:ext cx="16459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14.0</a:t>
            </a:r>
          </a:p>
        </p:txBody>
      </p:sp>
      <p:sp>
        <p:nvSpPr>
          <p:cNvPr id="140" name="Text 23"/>
          <p:cNvSpPr txBox="1"/>
          <p:nvPr/>
        </p:nvSpPr>
        <p:spPr>
          <a:xfrm>
            <a:off x="502919" y="3855528"/>
            <a:ext cx="292608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Ensemble (submitted)</a:t>
            </a:r>
          </a:p>
        </p:txBody>
      </p:sp>
      <p:sp>
        <p:nvSpPr>
          <p:cNvPr id="141" name="Text 24"/>
          <p:cNvSpPr txBox="1"/>
          <p:nvPr/>
        </p:nvSpPr>
        <p:spPr>
          <a:xfrm>
            <a:off x="3566159" y="3855528"/>
            <a:ext cx="14630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5.9%</a:t>
            </a:r>
          </a:p>
        </p:txBody>
      </p:sp>
      <p:sp>
        <p:nvSpPr>
          <p:cNvPr id="142" name="Text 25"/>
          <p:cNvSpPr txBox="1"/>
          <p:nvPr/>
        </p:nvSpPr>
        <p:spPr>
          <a:xfrm>
            <a:off x="5120640" y="3855528"/>
            <a:ext cx="14630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26.5%</a:t>
            </a:r>
          </a:p>
        </p:txBody>
      </p:sp>
      <p:sp>
        <p:nvSpPr>
          <p:cNvPr id="143" name="Text 26"/>
          <p:cNvSpPr txBox="1"/>
          <p:nvPr/>
        </p:nvSpPr>
        <p:spPr>
          <a:xfrm>
            <a:off x="6675119" y="3855528"/>
            <a:ext cx="16459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14.0</a:t>
            </a:r>
          </a:p>
        </p:txBody>
      </p:sp>
      <p:sp>
        <p:nvSpPr>
          <p:cNvPr id="144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E35">
              <a:alpha val="7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28"/>
          <p:cNvSpPr txBox="1"/>
          <p:nvPr/>
        </p:nvSpPr>
        <p:spPr>
          <a:xfrm>
            <a:off x="365759" y="4892084"/>
            <a:ext cx="6858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B0C0D0"/>
                </a:solidFill>
              </a:defRPr>
            </a:lvl1pPr>
          </a:lstStyle>
          <a:p>
            <a:pPr/>
            <a:r>
              <a:t>Telepathy  |  Constructor Technology EEG Challenge</a:t>
            </a:r>
          </a:p>
        </p:txBody>
      </p:sp>
      <p:sp>
        <p:nvSpPr>
          <p:cNvPr id="146" name="Text 29"/>
          <p:cNvSpPr txBox="1"/>
          <p:nvPr/>
        </p:nvSpPr>
        <p:spPr>
          <a:xfrm>
            <a:off x="8412480" y="4892084"/>
            <a:ext cx="457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B0C0D0"/>
                </a:solidFill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Shape 0"/>
          <p:cNvSpPr/>
          <p:nvPr/>
        </p:nvSpPr>
        <p:spPr>
          <a:xfrm>
            <a:off x="320040" y="1051560"/>
            <a:ext cx="8503920" cy="3611880"/>
          </a:xfrm>
          <a:prstGeom prst="roundRect">
            <a:avLst>
              <a:gd name="adj" fmla="val 2532"/>
            </a:avLst>
          </a:prstGeom>
          <a:solidFill>
            <a:srgbClr val="0F1E35">
              <a:alpha val="8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Text 1"/>
          <p:cNvSpPr txBox="1"/>
          <p:nvPr/>
        </p:nvSpPr>
        <p:spPr>
          <a:xfrm>
            <a:off x="411480" y="227515"/>
            <a:ext cx="8229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300">
                <a:solidFill>
                  <a:srgbClr val="2EE5BA"/>
                </a:solidFill>
              </a:defRPr>
            </a:lvl1pPr>
          </a:lstStyle>
          <a:p>
            <a:pPr/>
            <a:r>
              <a:t>OTHER APPROACHES</a:t>
            </a:r>
          </a:p>
        </p:txBody>
      </p:sp>
      <p:sp>
        <p:nvSpPr>
          <p:cNvPr id="151" name="Text 2"/>
          <p:cNvSpPr txBox="1"/>
          <p:nvPr/>
        </p:nvSpPr>
        <p:spPr>
          <a:xfrm>
            <a:off x="411479" y="582293"/>
            <a:ext cx="8321042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Why Ridge on raw EEG won</a:t>
            </a:r>
          </a:p>
        </p:txBody>
      </p:sp>
      <p:sp>
        <p:nvSpPr>
          <p:cNvPr id="152" name="Text 3"/>
          <p:cNvSpPr txBox="1"/>
          <p:nvPr/>
        </p:nvSpPr>
        <p:spPr>
          <a:xfrm>
            <a:off x="502919" y="1404183"/>
            <a:ext cx="292608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EE5BA"/>
                </a:solidFill>
              </a:defRPr>
            </a:lvl1pPr>
          </a:lstStyle>
          <a:p>
            <a:pPr/>
            <a:r>
              <a:t>CCA</a:t>
            </a:r>
          </a:p>
        </p:txBody>
      </p:sp>
      <p:sp>
        <p:nvSpPr>
          <p:cNvPr id="153" name="Text 4"/>
          <p:cNvSpPr txBox="1"/>
          <p:nvPr/>
        </p:nvSpPr>
        <p:spPr>
          <a:xfrm>
            <a:off x="3566159" y="1459800"/>
            <a:ext cx="5029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100% train top-1, but test at chance (median rank ~50)</a:t>
            </a:r>
          </a:p>
        </p:txBody>
      </p:sp>
      <p:sp>
        <p:nvSpPr>
          <p:cNvPr id="154" name="Text 5"/>
          <p:cNvSpPr txBox="1"/>
          <p:nvPr/>
        </p:nvSpPr>
        <p:spPr>
          <a:xfrm>
            <a:off x="502919" y="2181423"/>
            <a:ext cx="292608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EE5BA"/>
                </a:solidFill>
              </a:defRPr>
            </a:lvl1pPr>
          </a:lstStyle>
          <a:p>
            <a:pPr/>
            <a:r>
              <a:t>CLIP-style contrastive</a:t>
            </a:r>
          </a:p>
        </p:txBody>
      </p:sp>
      <p:sp>
        <p:nvSpPr>
          <p:cNvPr id="155" name="Text 6"/>
          <p:cNvSpPr txBox="1"/>
          <p:nvPr/>
        </p:nvSpPr>
        <p:spPr>
          <a:xfrm>
            <a:off x="3566159" y="2237040"/>
            <a:ext cx="5029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Heavy overfitting — memorizes training pairs</a:t>
            </a:r>
          </a:p>
        </p:txBody>
      </p:sp>
      <p:sp>
        <p:nvSpPr>
          <p:cNvPr id="156" name="Text 7"/>
          <p:cNvSpPr txBox="1"/>
          <p:nvPr/>
        </p:nvSpPr>
        <p:spPr>
          <a:xfrm>
            <a:off x="502919" y="2958663"/>
            <a:ext cx="292608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EE5BA"/>
                </a:solidFill>
              </a:defRPr>
            </a:lvl1pPr>
          </a:lstStyle>
          <a:p>
            <a:pPr/>
            <a:r>
              <a:t>MLP regression</a:t>
            </a:r>
          </a:p>
        </p:txBody>
      </p:sp>
      <p:sp>
        <p:nvSpPr>
          <p:cNvPr id="157" name="Text 8"/>
          <p:cNvSpPr txBox="1"/>
          <p:nvPr/>
        </p:nvSpPr>
        <p:spPr>
          <a:xfrm>
            <a:off x="3566159" y="3014280"/>
            <a:ext cx="5029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Underfits; train already at chance</a:t>
            </a:r>
          </a:p>
        </p:txBody>
      </p:sp>
      <p:sp>
        <p:nvSpPr>
          <p:cNvPr id="158" name="Text 9"/>
          <p:cNvSpPr txBox="1"/>
          <p:nvPr/>
        </p:nvSpPr>
        <p:spPr>
          <a:xfrm>
            <a:off x="502919" y="3735903"/>
            <a:ext cx="292608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EE5BA"/>
                </a:solidFill>
              </a:defRPr>
            </a:lvl1pPr>
          </a:lstStyle>
          <a:p>
            <a:pPr/>
            <a:r>
              <a:t>Ridge (submitted)</a:t>
            </a:r>
          </a:p>
        </p:txBody>
      </p:sp>
      <p:sp>
        <p:nvSpPr>
          <p:cNvPr id="159" name="Text 10"/>
          <p:cNvSpPr txBox="1"/>
          <p:nvPr/>
        </p:nvSpPr>
        <p:spPr>
          <a:xfrm>
            <a:off x="3566159" y="3791520"/>
            <a:ext cx="5029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Only method clearly above chance on test</a:t>
            </a:r>
          </a:p>
        </p:txBody>
      </p:sp>
      <p:sp>
        <p:nvSpPr>
          <p:cNvPr id="160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E35">
              <a:alpha val="7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12"/>
          <p:cNvSpPr txBox="1"/>
          <p:nvPr/>
        </p:nvSpPr>
        <p:spPr>
          <a:xfrm>
            <a:off x="365759" y="4892084"/>
            <a:ext cx="6858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B0C0D0"/>
                </a:solidFill>
              </a:defRPr>
            </a:lvl1pPr>
          </a:lstStyle>
          <a:p>
            <a:pPr/>
            <a:r>
              <a:t>Telepathy  |  Constructor Technology EEG Challenge</a:t>
            </a:r>
          </a:p>
        </p:txBody>
      </p:sp>
      <p:sp>
        <p:nvSpPr>
          <p:cNvPr id="162" name="Text 13"/>
          <p:cNvSpPr txBox="1"/>
          <p:nvPr/>
        </p:nvSpPr>
        <p:spPr>
          <a:xfrm>
            <a:off x="8412480" y="4892084"/>
            <a:ext cx="457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B0C0D0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Shape 0"/>
          <p:cNvSpPr/>
          <p:nvPr/>
        </p:nvSpPr>
        <p:spPr>
          <a:xfrm>
            <a:off x="320040" y="1051560"/>
            <a:ext cx="8503920" cy="3611880"/>
          </a:xfrm>
          <a:prstGeom prst="roundRect">
            <a:avLst>
              <a:gd name="adj" fmla="val 2532"/>
            </a:avLst>
          </a:prstGeom>
          <a:solidFill>
            <a:srgbClr val="0F1E35">
              <a:alpha val="8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1"/>
          <p:cNvSpPr txBox="1"/>
          <p:nvPr/>
        </p:nvSpPr>
        <p:spPr>
          <a:xfrm>
            <a:off x="411480" y="227515"/>
            <a:ext cx="8229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300">
                <a:solidFill>
                  <a:srgbClr val="2EE5BA"/>
                </a:solidFill>
              </a:defRPr>
            </a:lvl1pPr>
          </a:lstStyle>
          <a:p>
            <a:pPr/>
            <a:r>
              <a:t>KEY TAKEAWAYS</a:t>
            </a:r>
          </a:p>
        </p:txBody>
      </p:sp>
      <p:sp>
        <p:nvSpPr>
          <p:cNvPr id="167" name="Text 2"/>
          <p:cNvSpPr txBox="1"/>
          <p:nvPr/>
        </p:nvSpPr>
        <p:spPr>
          <a:xfrm>
            <a:off x="411479" y="582293"/>
            <a:ext cx="8321042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What we learned</a:t>
            </a:r>
          </a:p>
        </p:txBody>
      </p:sp>
      <p:sp>
        <p:nvSpPr>
          <p:cNvPr id="168" name="Text 3"/>
          <p:cNvSpPr txBox="1"/>
          <p:nvPr/>
        </p:nvSpPr>
        <p:spPr>
          <a:xfrm>
            <a:off x="502920" y="1436459"/>
            <a:ext cx="8046719" cy="2360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▸  Strong regularization (α ≈ 10⁴–10⁵) was critical for generalization</a:t>
            </a:r>
          </a:p>
        </p:txBody>
      </p:sp>
      <p:sp>
        <p:nvSpPr>
          <p:cNvPr id="169" name="Text 4"/>
          <p:cNvSpPr txBox="1"/>
          <p:nvPr/>
        </p:nvSpPr>
        <p:spPr>
          <a:xfrm>
            <a:off x="502920" y="2030819"/>
            <a:ext cx="8046719" cy="2360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▸  Ensemble of video features beat any single source on test top-1</a:t>
            </a:r>
          </a:p>
        </p:txBody>
      </p:sp>
      <p:sp>
        <p:nvSpPr>
          <p:cNvPr id="170" name="Text 5"/>
          <p:cNvSpPr txBox="1"/>
          <p:nvPr/>
        </p:nvSpPr>
        <p:spPr>
          <a:xfrm>
            <a:off x="502920" y="2625179"/>
            <a:ext cx="8046719" cy="2360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▸  Learned EEG embeddings (LaBraM, LUNA, CBraMod) overfit more easily</a:t>
            </a:r>
          </a:p>
        </p:txBody>
      </p:sp>
      <p:sp>
        <p:nvSpPr>
          <p:cNvPr id="171" name="Text 6"/>
          <p:cNvSpPr txBox="1"/>
          <p:nvPr/>
        </p:nvSpPr>
        <p:spPr>
          <a:xfrm>
            <a:off x="502920" y="3219539"/>
            <a:ext cx="8046719" cy="2360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▸  Raw (decimated) EEG + Ridge was more robust than complex models</a:t>
            </a:r>
          </a:p>
        </p:txBody>
      </p:sp>
      <p:sp>
        <p:nvSpPr>
          <p:cNvPr id="172" name="Text 7"/>
          <p:cNvSpPr txBox="1"/>
          <p:nvPr/>
        </p:nvSpPr>
        <p:spPr>
          <a:xfrm>
            <a:off x="502920" y="3813899"/>
            <a:ext cx="8046719" cy="2360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▸  DINO features gave the strongest single-model top-5</a:t>
            </a:r>
          </a:p>
        </p:txBody>
      </p:sp>
      <p:sp>
        <p:nvSpPr>
          <p:cNvPr id="173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E35">
              <a:alpha val="7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9"/>
          <p:cNvSpPr txBox="1"/>
          <p:nvPr/>
        </p:nvSpPr>
        <p:spPr>
          <a:xfrm>
            <a:off x="365759" y="4892084"/>
            <a:ext cx="6858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B0C0D0"/>
                </a:solidFill>
              </a:defRPr>
            </a:lvl1pPr>
          </a:lstStyle>
          <a:p>
            <a:pPr/>
            <a:r>
              <a:t>Telepathy  |  Constructor Technology EEG Challenge</a:t>
            </a:r>
          </a:p>
        </p:txBody>
      </p:sp>
      <p:sp>
        <p:nvSpPr>
          <p:cNvPr id="175" name="Text 10"/>
          <p:cNvSpPr txBox="1"/>
          <p:nvPr/>
        </p:nvSpPr>
        <p:spPr>
          <a:xfrm>
            <a:off x="8412480" y="4892084"/>
            <a:ext cx="457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B0C0D0"/>
                </a:solidFill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Shape 0"/>
          <p:cNvSpPr/>
          <p:nvPr/>
        </p:nvSpPr>
        <p:spPr>
          <a:xfrm>
            <a:off x="0" y="-1"/>
            <a:ext cx="9144000" cy="73154"/>
          </a:xfrm>
          <a:prstGeom prst="rect">
            <a:avLst/>
          </a:prstGeom>
          <a:solidFill>
            <a:srgbClr val="2EE5B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Text 1"/>
          <p:cNvSpPr txBox="1"/>
          <p:nvPr/>
        </p:nvSpPr>
        <p:spPr>
          <a:xfrm>
            <a:off x="411480" y="1688053"/>
            <a:ext cx="4572001" cy="647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000">
                <a:solidFill>
                  <a:srgbClr val="FFFFFF"/>
                </a:solidFill>
              </a:defRPr>
            </a:lvl1pPr>
          </a:lstStyle>
          <a:p>
            <a:pPr/>
            <a:r>
              <a:t>Telepathy</a:t>
            </a:r>
          </a:p>
        </p:txBody>
      </p:sp>
      <p:sp>
        <p:nvSpPr>
          <p:cNvPr id="180" name="Text 2"/>
          <p:cNvSpPr txBox="1"/>
          <p:nvPr/>
        </p:nvSpPr>
        <p:spPr>
          <a:xfrm>
            <a:off x="411480" y="2641952"/>
            <a:ext cx="457200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2EE5BA"/>
                </a:solidFill>
              </a:defRPr>
            </a:lvl1pPr>
          </a:lstStyle>
          <a:p>
            <a:pPr/>
            <a:r>
              <a:t>Decoding what the mind sees</a:t>
            </a:r>
          </a:p>
        </p:txBody>
      </p:sp>
      <p:sp>
        <p:nvSpPr>
          <p:cNvPr id="181" name="Text 3"/>
          <p:cNvSpPr txBox="1"/>
          <p:nvPr/>
        </p:nvSpPr>
        <p:spPr>
          <a:xfrm>
            <a:off x="411480" y="3262456"/>
            <a:ext cx="457200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94A3B8"/>
                </a:solidFill>
              </a:defRPr>
            </a:lvl1pPr>
          </a:lstStyle>
          <a:p>
            <a:pPr/>
            <a:r>
              <a:t>Thank you!</a:t>
            </a:r>
          </a:p>
        </p:txBody>
      </p:sp>
      <p:sp>
        <p:nvSpPr>
          <p:cNvPr id="182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E35">
              <a:alpha val="7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Text 5"/>
          <p:cNvSpPr txBox="1"/>
          <p:nvPr/>
        </p:nvSpPr>
        <p:spPr>
          <a:xfrm>
            <a:off x="365759" y="4892084"/>
            <a:ext cx="6858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B0C0D0"/>
                </a:solidFill>
              </a:defRPr>
            </a:lvl1pPr>
          </a:lstStyle>
          <a:p>
            <a:pPr/>
            <a:r>
              <a:t>Telepathy  |  Constructor Technology EEG Challenge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