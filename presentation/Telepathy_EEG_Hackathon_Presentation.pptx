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jpeg" ContentType="image/jpeg"/>
  <Override PartName="/ppt/media/image2.jpeg" ContentType="image/jpeg"/>
  <Override PartName="/ppt/media/image3.jpeg" ContentType="image/jpeg"/>
  <Override PartName="/ppt/media/image4.jpeg" ContentType="image/jpe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84B8F6EC-E242-485F-B095-C92AC8990FBF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B6CD6F70-AD78-4546-B9D4-18969E9365DE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BE0C4A9E-51E6-4848-AAE0-11328FACC688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7BE02A97-7A5F-4B9A-8659-B1673ACC69C2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759358E8-C745-4AC1-9CE7-77116BD28A2C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58DF2A70-2777-47F4-8206-04F440A02AE7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12430E83-5B51-43CD-90BE-A0707BABE7A0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6D0B6F10-F3E8-48D2-9A77-50E5033E5B67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7E9ECCBD-8FB3-4890-A1BF-763E77112D27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0C9D8720-6C4C-4149-BCAC-EB1821415A3E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3C2876F2-1A47-4201-9A85-1F365A3D33F4}" type="slidenum">
              <a:t>&lt;#&gt;</a:t>
            </a:fld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9083C41B-18B4-4CD4-84D6-253B3D57A16C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sldNum" idx="1"/>
          </p:nvPr>
        </p:nvSpPr>
        <p:spPr>
          <a:xfrm>
            <a:off x="4419720" y="4627440"/>
            <a:ext cx="2132280" cy="27792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F0D71C6D-F1EA-407D-971B-8C5D9D83D37E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Image 0" descr="Image 0"/>
          <p:cNvPicPr/>
          <p:nvPr/>
        </p:nvPicPr>
        <p:blipFill>
          <a:blip r:embed="rId1"/>
          <a:stretch/>
        </p:blipFill>
        <p:spPr>
          <a:xfrm>
            <a:off x="0" y="0"/>
            <a:ext cx="9142560" cy="5142240"/>
          </a:xfrm>
          <a:prstGeom prst="rect">
            <a:avLst/>
          </a:prstGeom>
          <a:ln w="12700">
            <a:noFill/>
          </a:ln>
        </p:spPr>
      </p:pic>
      <p:sp>
        <p:nvSpPr>
          <p:cNvPr id="40" name="Shape 0"/>
          <p:cNvSpPr/>
          <p:nvPr/>
        </p:nvSpPr>
        <p:spPr>
          <a:xfrm>
            <a:off x="0" y="0"/>
            <a:ext cx="9142560" cy="71640"/>
          </a:xfrm>
          <a:prstGeom prst="rect">
            <a:avLst/>
          </a:prstGeom>
          <a:solidFill>
            <a:srgbClr val="2ee5ba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8080" bIns="2808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Calibri"/>
              <a:ea typeface="Calibri"/>
            </a:endParaRPr>
          </a:p>
        </p:txBody>
      </p:sp>
      <p:sp>
        <p:nvSpPr>
          <p:cNvPr id="41" name="Text 1"/>
          <p:cNvSpPr/>
          <p:nvPr/>
        </p:nvSpPr>
        <p:spPr>
          <a:xfrm>
            <a:off x="365760" y="1166400"/>
            <a:ext cx="4753440" cy="1818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91" strike="noStrike">
                <a:solidFill>
                  <a:srgbClr val="2ee5ba"/>
                </a:solidFill>
                <a:latin typeface="Calibri"/>
                <a:ea typeface="Calibri"/>
              </a:rPr>
              <a:t>CONSTRUCTOR TECHNOLOGY  ·  EEG MIND READING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Text 2"/>
          <p:cNvSpPr/>
          <p:nvPr/>
        </p:nvSpPr>
        <p:spPr>
          <a:xfrm>
            <a:off x="365760" y="1524600"/>
            <a:ext cx="4753440" cy="791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5200" spc="-1" strike="noStrike">
                <a:solidFill>
                  <a:srgbClr val="ffffff"/>
                </a:solidFill>
                <a:latin typeface="Calibri"/>
                <a:ea typeface="Calibri"/>
              </a:rPr>
              <a:t>Telepathy</a:t>
            </a:r>
            <a:endParaRPr b="0" lang="en-US" sz="5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Text 3"/>
          <p:cNvSpPr/>
          <p:nvPr/>
        </p:nvSpPr>
        <p:spPr>
          <a:xfrm>
            <a:off x="352800" y="2950200"/>
            <a:ext cx="4387680" cy="5479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94a3b8"/>
                </a:solidFill>
                <a:latin typeface="Calibri"/>
                <a:ea typeface="Calibri"/>
              </a:rPr>
              <a:t>Decoding visual perception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94a3b8"/>
                </a:solidFill>
                <a:latin typeface="Calibri"/>
                <a:ea typeface="Calibri"/>
              </a:rPr>
              <a:t>from EEG signals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Shape 4"/>
          <p:cNvSpPr/>
          <p:nvPr/>
        </p:nvSpPr>
        <p:spPr>
          <a:xfrm>
            <a:off x="365400" y="3685680"/>
            <a:ext cx="1463400" cy="360"/>
          </a:xfrm>
          <a:prstGeom prst="line">
            <a:avLst/>
          </a:prstGeom>
          <a:ln w="31750">
            <a:solidFill>
              <a:srgbClr val="2ee5b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-45000" bIns="-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  <a:ea typeface="Calibri"/>
            </a:endParaRPr>
          </a:p>
        </p:txBody>
      </p:sp>
      <p:sp>
        <p:nvSpPr>
          <p:cNvPr id="45" name="Text 5"/>
          <p:cNvSpPr/>
          <p:nvPr/>
        </p:nvSpPr>
        <p:spPr>
          <a:xfrm>
            <a:off x="352800" y="3860280"/>
            <a:ext cx="4113360" cy="2275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Hackathon Pitch  ·  October 2026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Shape 6"/>
          <p:cNvSpPr/>
          <p:nvPr/>
        </p:nvSpPr>
        <p:spPr>
          <a:xfrm>
            <a:off x="0" y="4800600"/>
            <a:ext cx="9142560" cy="341640"/>
          </a:xfrm>
          <a:prstGeom prst="rect">
            <a:avLst/>
          </a:prstGeom>
          <a:solidFill>
            <a:srgbClr val="0f1e35">
              <a:alpha val="75000"/>
            </a:srgbClr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Calibri"/>
              <a:ea typeface="Calibri"/>
            </a:endParaRPr>
          </a:p>
        </p:txBody>
      </p:sp>
      <p:sp>
        <p:nvSpPr>
          <p:cNvPr id="47" name="Text 7"/>
          <p:cNvSpPr/>
          <p:nvPr/>
        </p:nvSpPr>
        <p:spPr>
          <a:xfrm>
            <a:off x="365760" y="4884840"/>
            <a:ext cx="6856560" cy="1515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b0c0d0"/>
                </a:solidFill>
                <a:latin typeface="Calibri"/>
                <a:ea typeface="Calibri"/>
              </a:rPr>
              <a:t>Telepathy  |  Constructor Technology EEG Challenge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Yetkin Zambelli | Mike Mengjie Huang"/>
          <p:cNvSpPr/>
          <p:nvPr/>
        </p:nvSpPr>
        <p:spPr>
          <a:xfrm>
            <a:off x="337680" y="2336400"/>
            <a:ext cx="3672720" cy="3639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tIns="45000" bIns="450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Yetkin Zambelli | Mike Mengjie Huang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Image 0" descr="Image 0"/>
          <p:cNvPicPr/>
          <p:nvPr/>
        </p:nvPicPr>
        <p:blipFill>
          <a:blip r:embed="rId1"/>
          <a:stretch/>
        </p:blipFill>
        <p:spPr>
          <a:xfrm>
            <a:off x="0" y="0"/>
            <a:ext cx="9142560" cy="5142240"/>
          </a:xfrm>
          <a:prstGeom prst="rect">
            <a:avLst/>
          </a:prstGeom>
          <a:ln w="12700">
            <a:noFill/>
          </a:ln>
        </p:spPr>
      </p:pic>
      <p:sp>
        <p:nvSpPr>
          <p:cNvPr id="50" name="Shape 0"/>
          <p:cNvSpPr/>
          <p:nvPr/>
        </p:nvSpPr>
        <p:spPr>
          <a:xfrm>
            <a:off x="320040" y="1051560"/>
            <a:ext cx="8502480" cy="3610440"/>
          </a:xfrm>
          <a:prstGeom prst="roundRect">
            <a:avLst>
              <a:gd name="adj" fmla="val 2532"/>
            </a:avLst>
          </a:prstGeom>
          <a:solidFill>
            <a:srgbClr val="0f1e35">
              <a:alpha val="80000"/>
            </a:srgbClr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Calibri"/>
              <a:ea typeface="Calibri"/>
            </a:endParaRPr>
          </a:p>
        </p:txBody>
      </p:sp>
      <p:sp>
        <p:nvSpPr>
          <p:cNvPr id="51" name="Text 1"/>
          <p:cNvSpPr/>
          <p:nvPr/>
        </p:nvSpPr>
        <p:spPr>
          <a:xfrm>
            <a:off x="411480" y="212040"/>
            <a:ext cx="8228160" cy="197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00" spc="389" strike="noStrike">
                <a:solidFill>
                  <a:srgbClr val="2ee5ba"/>
                </a:solidFill>
                <a:latin typeface="Calibri"/>
                <a:ea typeface="Calibri"/>
              </a:rPr>
              <a:t>ML PIPELINE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Text 2"/>
          <p:cNvSpPr/>
          <p:nvPr/>
        </p:nvSpPr>
        <p:spPr>
          <a:xfrm>
            <a:off x="411480" y="545760"/>
            <a:ext cx="8319600" cy="4258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  <a:ea typeface="Calibri"/>
              </a:rPr>
              <a:t>Preprocessing → Features → Classification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Text 3"/>
          <p:cNvSpPr/>
          <p:nvPr/>
        </p:nvSpPr>
        <p:spPr>
          <a:xfrm>
            <a:off x="502920" y="1397880"/>
            <a:ext cx="684360" cy="2736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ee5ba"/>
                </a:solidFill>
                <a:latin typeface="Calibri"/>
                <a:ea typeface="Calibri"/>
              </a:rPr>
              <a:t>01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Text 4"/>
          <p:cNvSpPr/>
          <p:nvPr/>
        </p:nvSpPr>
        <p:spPr>
          <a:xfrm>
            <a:off x="1280160" y="1390680"/>
            <a:ext cx="2101680" cy="2426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Preprocessing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Text 5"/>
          <p:cNvSpPr/>
          <p:nvPr/>
        </p:nvSpPr>
        <p:spPr>
          <a:xfrm>
            <a:off x="3474720" y="1401840"/>
            <a:ext cx="5119200" cy="2131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94a3b8"/>
                </a:solidFill>
                <a:latin typeface="Calibri"/>
                <a:ea typeface="Calibri"/>
              </a:rPr>
              <a:t>Bandpass 0.5–75 Hz + 50 Hz notch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Text 6"/>
          <p:cNvSpPr/>
          <p:nvPr/>
        </p:nvSpPr>
        <p:spPr>
          <a:xfrm>
            <a:off x="502920" y="2202840"/>
            <a:ext cx="684360" cy="2736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ee5ba"/>
                </a:solidFill>
                <a:latin typeface="Calibri"/>
                <a:ea typeface="Calibri"/>
              </a:rPr>
              <a:t>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Text 7"/>
          <p:cNvSpPr/>
          <p:nvPr/>
        </p:nvSpPr>
        <p:spPr>
          <a:xfrm>
            <a:off x="1280160" y="2195280"/>
            <a:ext cx="2101680" cy="2426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EEG Features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Text 8"/>
          <p:cNvSpPr/>
          <p:nvPr/>
        </p:nvSpPr>
        <p:spPr>
          <a:xfrm>
            <a:off x="3474720" y="2207160"/>
            <a:ext cx="5119200" cy="2124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94a3b8"/>
                </a:solidFill>
                <a:latin typeface="Calibri"/>
                <a:ea typeface="Calibri"/>
              </a:rPr>
              <a:t>LaBraM, modified LaBraM (3s), LUNA, CBraMod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 9"/>
          <p:cNvSpPr/>
          <p:nvPr/>
        </p:nvSpPr>
        <p:spPr>
          <a:xfrm>
            <a:off x="502920" y="3007440"/>
            <a:ext cx="684360" cy="2736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ee5ba"/>
                </a:solidFill>
                <a:latin typeface="Calibri"/>
                <a:ea typeface="Calibri"/>
              </a:rPr>
              <a:t>03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Text 10"/>
          <p:cNvSpPr/>
          <p:nvPr/>
        </p:nvSpPr>
        <p:spPr>
          <a:xfrm>
            <a:off x="1280160" y="2999880"/>
            <a:ext cx="2101680" cy="2426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Video Features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Text 11"/>
          <p:cNvSpPr/>
          <p:nvPr/>
        </p:nvSpPr>
        <p:spPr>
          <a:xfrm>
            <a:off x="3474720" y="3011760"/>
            <a:ext cx="5119200" cy="2124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94a3b8"/>
                </a:solidFill>
                <a:latin typeface="Calibri"/>
                <a:ea typeface="Calibri"/>
              </a:rPr>
              <a:t>OpenCLIP, DINOv2, AlexNet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Text 12"/>
          <p:cNvSpPr/>
          <p:nvPr/>
        </p:nvSpPr>
        <p:spPr>
          <a:xfrm>
            <a:off x="502920" y="3812040"/>
            <a:ext cx="684360" cy="2736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ee5ba"/>
                </a:solidFill>
                <a:latin typeface="Calibri"/>
                <a:ea typeface="Calibri"/>
              </a:rPr>
              <a:t>04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 13"/>
          <p:cNvSpPr/>
          <p:nvPr/>
        </p:nvSpPr>
        <p:spPr>
          <a:xfrm>
            <a:off x="1280160" y="3804840"/>
            <a:ext cx="2101680" cy="2426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Classification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Text 14"/>
          <p:cNvSpPr/>
          <p:nvPr/>
        </p:nvSpPr>
        <p:spPr>
          <a:xfrm>
            <a:off x="3474720" y="3709800"/>
            <a:ext cx="5119200" cy="4255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94a3b8"/>
                </a:solidFill>
                <a:latin typeface="Calibri"/>
                <a:ea typeface="Calibri"/>
              </a:rPr>
              <a:t>Per-subject RidgeCV: map video features → EEG response, rank by Pearson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Shape 15"/>
          <p:cNvSpPr/>
          <p:nvPr/>
        </p:nvSpPr>
        <p:spPr>
          <a:xfrm>
            <a:off x="0" y="4800600"/>
            <a:ext cx="9142560" cy="341640"/>
          </a:xfrm>
          <a:prstGeom prst="rect">
            <a:avLst/>
          </a:prstGeom>
          <a:solidFill>
            <a:srgbClr val="0f1e35">
              <a:alpha val="75000"/>
            </a:srgbClr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Calibri"/>
              <a:ea typeface="Calibri"/>
            </a:endParaRPr>
          </a:p>
        </p:txBody>
      </p:sp>
      <p:sp>
        <p:nvSpPr>
          <p:cNvPr id="66" name="Text 16"/>
          <p:cNvSpPr/>
          <p:nvPr/>
        </p:nvSpPr>
        <p:spPr>
          <a:xfrm>
            <a:off x="365760" y="4884840"/>
            <a:ext cx="6856560" cy="1515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b0c0d0"/>
                </a:solidFill>
                <a:latin typeface="Calibri"/>
                <a:ea typeface="Calibri"/>
              </a:rPr>
              <a:t>Telepathy  |  Constructor Technology EEG Challenge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Text 17"/>
          <p:cNvSpPr/>
          <p:nvPr/>
        </p:nvSpPr>
        <p:spPr>
          <a:xfrm>
            <a:off x="8412480" y="4884840"/>
            <a:ext cx="455760" cy="1515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b0c0d0"/>
                </a:solidFill>
                <a:latin typeface="Calibri"/>
                <a:ea typeface="Calibri"/>
              </a:rPr>
              <a:t>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Image 0" descr="Image 0"/>
          <p:cNvPicPr/>
          <p:nvPr/>
        </p:nvPicPr>
        <p:blipFill>
          <a:blip r:embed="rId1"/>
          <a:stretch/>
        </p:blipFill>
        <p:spPr>
          <a:xfrm>
            <a:off x="0" y="0"/>
            <a:ext cx="9142560" cy="5142240"/>
          </a:xfrm>
          <a:prstGeom prst="rect">
            <a:avLst/>
          </a:prstGeom>
          <a:ln w="12700">
            <a:noFill/>
          </a:ln>
        </p:spPr>
      </p:pic>
      <p:sp>
        <p:nvSpPr>
          <p:cNvPr id="69" name="Shape 0"/>
          <p:cNvSpPr/>
          <p:nvPr/>
        </p:nvSpPr>
        <p:spPr>
          <a:xfrm>
            <a:off x="320040" y="1051560"/>
            <a:ext cx="8502480" cy="3610440"/>
          </a:xfrm>
          <a:prstGeom prst="roundRect">
            <a:avLst>
              <a:gd name="adj" fmla="val 2532"/>
            </a:avLst>
          </a:prstGeom>
          <a:solidFill>
            <a:srgbClr val="0f1e35">
              <a:alpha val="80000"/>
            </a:srgbClr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Calibri"/>
              <a:ea typeface="Calibri"/>
            </a:endParaRPr>
          </a:p>
        </p:txBody>
      </p:sp>
      <p:sp>
        <p:nvSpPr>
          <p:cNvPr id="70" name="Text 1"/>
          <p:cNvSpPr/>
          <p:nvPr/>
        </p:nvSpPr>
        <p:spPr>
          <a:xfrm>
            <a:off x="411480" y="212040"/>
            <a:ext cx="8228160" cy="197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00" spc="389" strike="noStrike">
                <a:solidFill>
                  <a:srgbClr val="2ee5ba"/>
                </a:solidFill>
                <a:latin typeface="Calibri"/>
                <a:ea typeface="Calibri"/>
              </a:rPr>
              <a:t>RESULTS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 2"/>
          <p:cNvSpPr/>
          <p:nvPr/>
        </p:nvSpPr>
        <p:spPr>
          <a:xfrm>
            <a:off x="411480" y="545760"/>
            <a:ext cx="8319600" cy="4258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  <a:ea typeface="Calibri"/>
              </a:rPr>
              <a:t>Test retrieval (102 candidates)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 3"/>
          <p:cNvSpPr/>
          <p:nvPr/>
        </p:nvSpPr>
        <p:spPr>
          <a:xfrm>
            <a:off x="502920" y="1272600"/>
            <a:ext cx="7770960" cy="197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94a3b8"/>
                </a:solidFill>
                <a:latin typeface="Calibri"/>
                <a:ea typeface="Calibri"/>
              </a:rPr>
              <a:t>Chance: Top-1 = 0.98%  ·  Top-5 = 4.9%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 4"/>
          <p:cNvSpPr/>
          <p:nvPr/>
        </p:nvSpPr>
        <p:spPr>
          <a:xfrm>
            <a:off x="548640" y="1638360"/>
            <a:ext cx="1370160" cy="197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2ee5ba"/>
                </a:solidFill>
                <a:latin typeface="Calibri"/>
                <a:ea typeface="Calibri"/>
              </a:rPr>
              <a:t>Subject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 5"/>
          <p:cNvSpPr/>
          <p:nvPr/>
        </p:nvSpPr>
        <p:spPr>
          <a:xfrm>
            <a:off x="2194560" y="1638360"/>
            <a:ext cx="1370160" cy="197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2ee5ba"/>
                </a:solidFill>
                <a:latin typeface="Calibri"/>
                <a:ea typeface="Calibri"/>
              </a:rPr>
              <a:t>Top-1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Text 6"/>
          <p:cNvSpPr/>
          <p:nvPr/>
        </p:nvSpPr>
        <p:spPr>
          <a:xfrm>
            <a:off x="3840480" y="1638360"/>
            <a:ext cx="1370160" cy="197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2ee5ba"/>
                </a:solidFill>
                <a:latin typeface="Calibri"/>
                <a:ea typeface="Calibri"/>
              </a:rPr>
              <a:t>Top-5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Text 7"/>
          <p:cNvSpPr/>
          <p:nvPr/>
        </p:nvSpPr>
        <p:spPr>
          <a:xfrm>
            <a:off x="5486400" y="1638360"/>
            <a:ext cx="2284560" cy="197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2ee5ba"/>
                </a:solidFill>
                <a:latin typeface="Calibri"/>
                <a:ea typeface="Calibri"/>
              </a:rPr>
              <a:t>Median Rank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 8"/>
          <p:cNvSpPr/>
          <p:nvPr/>
        </p:nvSpPr>
        <p:spPr>
          <a:xfrm>
            <a:off x="548640" y="2027520"/>
            <a:ext cx="1370160" cy="2426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01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 9"/>
          <p:cNvSpPr/>
          <p:nvPr/>
        </p:nvSpPr>
        <p:spPr>
          <a:xfrm>
            <a:off x="2194560" y="2027520"/>
            <a:ext cx="1370160" cy="2426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5.9%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 10"/>
          <p:cNvSpPr/>
          <p:nvPr/>
        </p:nvSpPr>
        <p:spPr>
          <a:xfrm>
            <a:off x="3840480" y="2027520"/>
            <a:ext cx="1370160" cy="2426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24.5%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 11"/>
          <p:cNvSpPr/>
          <p:nvPr/>
        </p:nvSpPr>
        <p:spPr>
          <a:xfrm>
            <a:off x="5486400" y="2027520"/>
            <a:ext cx="2284560" cy="2426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15.0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Text 12"/>
          <p:cNvSpPr/>
          <p:nvPr/>
        </p:nvSpPr>
        <p:spPr>
          <a:xfrm>
            <a:off x="548640" y="2530440"/>
            <a:ext cx="1370160" cy="2426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02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Text 13"/>
          <p:cNvSpPr/>
          <p:nvPr/>
        </p:nvSpPr>
        <p:spPr>
          <a:xfrm>
            <a:off x="2194560" y="2530440"/>
            <a:ext cx="1370160" cy="2426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3.9%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 14"/>
          <p:cNvSpPr/>
          <p:nvPr/>
        </p:nvSpPr>
        <p:spPr>
          <a:xfrm>
            <a:off x="3840480" y="2530440"/>
            <a:ext cx="1370160" cy="2426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24.5%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 15"/>
          <p:cNvSpPr/>
          <p:nvPr/>
        </p:nvSpPr>
        <p:spPr>
          <a:xfrm>
            <a:off x="5486400" y="2530440"/>
            <a:ext cx="2284560" cy="2426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19.5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 16"/>
          <p:cNvSpPr/>
          <p:nvPr/>
        </p:nvSpPr>
        <p:spPr>
          <a:xfrm>
            <a:off x="548640" y="3033360"/>
            <a:ext cx="1370160" cy="2426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03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Text 17"/>
          <p:cNvSpPr/>
          <p:nvPr/>
        </p:nvSpPr>
        <p:spPr>
          <a:xfrm>
            <a:off x="2194560" y="3033360"/>
            <a:ext cx="1370160" cy="2426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4.9%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Text 18"/>
          <p:cNvSpPr/>
          <p:nvPr/>
        </p:nvSpPr>
        <p:spPr>
          <a:xfrm>
            <a:off x="3840480" y="3033360"/>
            <a:ext cx="1370160" cy="2426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17.7%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 19"/>
          <p:cNvSpPr/>
          <p:nvPr/>
        </p:nvSpPr>
        <p:spPr>
          <a:xfrm>
            <a:off x="5486400" y="3033360"/>
            <a:ext cx="2284560" cy="2426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20.5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 20"/>
          <p:cNvSpPr/>
          <p:nvPr/>
        </p:nvSpPr>
        <p:spPr>
          <a:xfrm>
            <a:off x="548640" y="3536280"/>
            <a:ext cx="1370160" cy="2426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04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 21"/>
          <p:cNvSpPr/>
          <p:nvPr/>
        </p:nvSpPr>
        <p:spPr>
          <a:xfrm>
            <a:off x="2194560" y="3536280"/>
            <a:ext cx="1370160" cy="2426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4.9%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 22"/>
          <p:cNvSpPr/>
          <p:nvPr/>
        </p:nvSpPr>
        <p:spPr>
          <a:xfrm>
            <a:off x="3840480" y="3536280"/>
            <a:ext cx="1370160" cy="2426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14.7%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23"/>
          <p:cNvSpPr/>
          <p:nvPr/>
        </p:nvSpPr>
        <p:spPr>
          <a:xfrm>
            <a:off x="5486400" y="3536280"/>
            <a:ext cx="2284560" cy="2426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22.5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Shape 24"/>
          <p:cNvSpPr/>
          <p:nvPr/>
        </p:nvSpPr>
        <p:spPr>
          <a:xfrm>
            <a:off x="0" y="4800600"/>
            <a:ext cx="9142560" cy="341640"/>
          </a:xfrm>
          <a:prstGeom prst="rect">
            <a:avLst/>
          </a:prstGeom>
          <a:solidFill>
            <a:srgbClr val="0f1e35">
              <a:alpha val="75000"/>
            </a:srgbClr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Calibri"/>
              <a:ea typeface="Calibri"/>
            </a:endParaRPr>
          </a:p>
        </p:txBody>
      </p:sp>
      <p:sp>
        <p:nvSpPr>
          <p:cNvPr id="94" name="Text 25"/>
          <p:cNvSpPr/>
          <p:nvPr/>
        </p:nvSpPr>
        <p:spPr>
          <a:xfrm>
            <a:off x="365760" y="4884840"/>
            <a:ext cx="6856560" cy="1515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b0c0d0"/>
                </a:solidFill>
                <a:latin typeface="Calibri"/>
                <a:ea typeface="Calibri"/>
              </a:rPr>
              <a:t>Telepathy  |  Constructor Technology EEG Challenge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 26"/>
          <p:cNvSpPr/>
          <p:nvPr/>
        </p:nvSpPr>
        <p:spPr>
          <a:xfrm>
            <a:off x="8412480" y="4884840"/>
            <a:ext cx="455760" cy="1515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b0c0d0"/>
                </a:solidFill>
                <a:latin typeface="Calibri"/>
                <a:ea typeface="Calibri"/>
              </a:rPr>
              <a:t>2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Image 0" descr="Image 0"/>
          <p:cNvPicPr/>
          <p:nvPr/>
        </p:nvPicPr>
        <p:blipFill>
          <a:blip r:embed="rId1"/>
          <a:stretch/>
        </p:blipFill>
        <p:spPr>
          <a:xfrm>
            <a:off x="0" y="0"/>
            <a:ext cx="9142560" cy="5142240"/>
          </a:xfrm>
          <a:prstGeom prst="rect">
            <a:avLst/>
          </a:prstGeom>
          <a:ln w="12700">
            <a:noFill/>
          </a:ln>
        </p:spPr>
      </p:pic>
      <p:sp>
        <p:nvSpPr>
          <p:cNvPr id="97" name="Shape 0"/>
          <p:cNvSpPr/>
          <p:nvPr/>
        </p:nvSpPr>
        <p:spPr>
          <a:xfrm>
            <a:off x="320040" y="1051560"/>
            <a:ext cx="8502480" cy="3610440"/>
          </a:xfrm>
          <a:prstGeom prst="roundRect">
            <a:avLst>
              <a:gd name="adj" fmla="val 2532"/>
            </a:avLst>
          </a:prstGeom>
          <a:solidFill>
            <a:srgbClr val="0f1e35">
              <a:alpha val="80000"/>
            </a:srgbClr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Calibri"/>
              <a:ea typeface="Calibri"/>
            </a:endParaRPr>
          </a:p>
        </p:txBody>
      </p:sp>
      <p:sp>
        <p:nvSpPr>
          <p:cNvPr id="98" name="Text 1"/>
          <p:cNvSpPr/>
          <p:nvPr/>
        </p:nvSpPr>
        <p:spPr>
          <a:xfrm>
            <a:off x="411480" y="212040"/>
            <a:ext cx="8228160" cy="197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00" spc="389" strike="noStrike">
                <a:solidFill>
                  <a:srgbClr val="2ee5ba"/>
                </a:solidFill>
                <a:latin typeface="Calibri"/>
                <a:ea typeface="Calibri"/>
              </a:rPr>
              <a:t>FEATURE ABLATION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 2"/>
          <p:cNvSpPr/>
          <p:nvPr/>
        </p:nvSpPr>
        <p:spPr>
          <a:xfrm>
            <a:off x="411480" y="545760"/>
            <a:ext cx="8319600" cy="4258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  <a:ea typeface="Calibri"/>
              </a:rPr>
              <a:t>Subject 1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 3"/>
          <p:cNvSpPr/>
          <p:nvPr/>
        </p:nvSpPr>
        <p:spPr>
          <a:xfrm>
            <a:off x="502920" y="1318320"/>
            <a:ext cx="2924640" cy="197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2ee5ba"/>
                </a:solidFill>
                <a:latin typeface="Calibri"/>
                <a:ea typeface="Calibri"/>
              </a:rPr>
              <a:t>Features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 4"/>
          <p:cNvSpPr/>
          <p:nvPr/>
        </p:nvSpPr>
        <p:spPr>
          <a:xfrm>
            <a:off x="3566160" y="1318320"/>
            <a:ext cx="1461600" cy="197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2ee5ba"/>
                </a:solidFill>
                <a:latin typeface="Calibri"/>
                <a:ea typeface="Calibri"/>
              </a:rPr>
              <a:t>Test Top-1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 5"/>
          <p:cNvSpPr/>
          <p:nvPr/>
        </p:nvSpPr>
        <p:spPr>
          <a:xfrm>
            <a:off x="5120640" y="1318320"/>
            <a:ext cx="1461600" cy="197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2ee5ba"/>
                </a:solidFill>
                <a:latin typeface="Calibri"/>
                <a:ea typeface="Calibri"/>
              </a:rPr>
              <a:t>Test Top-5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 6"/>
          <p:cNvSpPr/>
          <p:nvPr/>
        </p:nvSpPr>
        <p:spPr>
          <a:xfrm>
            <a:off x="6675120" y="1318320"/>
            <a:ext cx="1644480" cy="197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2ee5ba"/>
                </a:solidFill>
                <a:latin typeface="Calibri"/>
                <a:ea typeface="Calibri"/>
              </a:rPr>
              <a:t>Median Rank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 7"/>
          <p:cNvSpPr/>
          <p:nvPr/>
        </p:nvSpPr>
        <p:spPr>
          <a:xfrm>
            <a:off x="502920" y="1722600"/>
            <a:ext cx="2924640" cy="2124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AlexNet features.3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 8"/>
          <p:cNvSpPr/>
          <p:nvPr/>
        </p:nvSpPr>
        <p:spPr>
          <a:xfrm>
            <a:off x="3566160" y="1722600"/>
            <a:ext cx="1461600" cy="2124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3.9%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 9"/>
          <p:cNvSpPr/>
          <p:nvPr/>
        </p:nvSpPr>
        <p:spPr>
          <a:xfrm>
            <a:off x="5120640" y="1722600"/>
            <a:ext cx="1461600" cy="2124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11.8%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 10"/>
          <p:cNvSpPr/>
          <p:nvPr/>
        </p:nvSpPr>
        <p:spPr>
          <a:xfrm>
            <a:off x="6675120" y="1722600"/>
            <a:ext cx="1644480" cy="2124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25.5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 11"/>
          <p:cNvSpPr/>
          <p:nvPr/>
        </p:nvSpPr>
        <p:spPr>
          <a:xfrm>
            <a:off x="502920" y="2252880"/>
            <a:ext cx="2924640" cy="2124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DINO blocks.6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 12"/>
          <p:cNvSpPr/>
          <p:nvPr/>
        </p:nvSpPr>
        <p:spPr>
          <a:xfrm>
            <a:off x="3566160" y="2252880"/>
            <a:ext cx="1461600" cy="2124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4.9%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 13"/>
          <p:cNvSpPr/>
          <p:nvPr/>
        </p:nvSpPr>
        <p:spPr>
          <a:xfrm>
            <a:off x="5120640" y="2252880"/>
            <a:ext cx="1461600" cy="2124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30.4%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 14"/>
          <p:cNvSpPr/>
          <p:nvPr/>
        </p:nvSpPr>
        <p:spPr>
          <a:xfrm>
            <a:off x="6675120" y="2252880"/>
            <a:ext cx="1644480" cy="2124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13.0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 15"/>
          <p:cNvSpPr/>
          <p:nvPr/>
        </p:nvSpPr>
        <p:spPr>
          <a:xfrm>
            <a:off x="502920" y="2783160"/>
            <a:ext cx="2924640" cy="2124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CLIP resblocks.6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Text 16"/>
          <p:cNvSpPr/>
          <p:nvPr/>
        </p:nvSpPr>
        <p:spPr>
          <a:xfrm>
            <a:off x="3566160" y="2783160"/>
            <a:ext cx="1461600" cy="2124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3.9%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 17"/>
          <p:cNvSpPr/>
          <p:nvPr/>
        </p:nvSpPr>
        <p:spPr>
          <a:xfrm>
            <a:off x="5120640" y="2783160"/>
            <a:ext cx="1461600" cy="2124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16.7%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18"/>
          <p:cNvSpPr/>
          <p:nvPr/>
        </p:nvSpPr>
        <p:spPr>
          <a:xfrm>
            <a:off x="6675120" y="2783160"/>
            <a:ext cx="1644480" cy="2124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17.0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 19"/>
          <p:cNvSpPr/>
          <p:nvPr/>
        </p:nvSpPr>
        <p:spPr>
          <a:xfrm>
            <a:off x="502920" y="3313800"/>
            <a:ext cx="2924640" cy="2124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CLIP resblocks.7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 20"/>
          <p:cNvSpPr/>
          <p:nvPr/>
        </p:nvSpPr>
        <p:spPr>
          <a:xfrm>
            <a:off x="3566160" y="3313800"/>
            <a:ext cx="1461600" cy="2124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4.9%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 21"/>
          <p:cNvSpPr/>
          <p:nvPr/>
        </p:nvSpPr>
        <p:spPr>
          <a:xfrm>
            <a:off x="5120640" y="3313800"/>
            <a:ext cx="1461600" cy="2124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21.6%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22"/>
          <p:cNvSpPr/>
          <p:nvPr/>
        </p:nvSpPr>
        <p:spPr>
          <a:xfrm>
            <a:off x="6675120" y="3313800"/>
            <a:ext cx="1644480" cy="2124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14.0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 23"/>
          <p:cNvSpPr/>
          <p:nvPr/>
        </p:nvSpPr>
        <p:spPr>
          <a:xfrm>
            <a:off x="502920" y="3844080"/>
            <a:ext cx="2924640" cy="2124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Ensemble (submitted)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 24"/>
          <p:cNvSpPr/>
          <p:nvPr/>
        </p:nvSpPr>
        <p:spPr>
          <a:xfrm>
            <a:off x="3566160" y="3844080"/>
            <a:ext cx="1461600" cy="2124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5.9%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 25"/>
          <p:cNvSpPr/>
          <p:nvPr/>
        </p:nvSpPr>
        <p:spPr>
          <a:xfrm>
            <a:off x="5120640" y="3844080"/>
            <a:ext cx="1461600" cy="2124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26.5%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 26"/>
          <p:cNvSpPr/>
          <p:nvPr/>
        </p:nvSpPr>
        <p:spPr>
          <a:xfrm>
            <a:off x="6675120" y="3844080"/>
            <a:ext cx="1644480" cy="2124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14.0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Shape 27"/>
          <p:cNvSpPr/>
          <p:nvPr/>
        </p:nvSpPr>
        <p:spPr>
          <a:xfrm>
            <a:off x="0" y="4800600"/>
            <a:ext cx="9142560" cy="341640"/>
          </a:xfrm>
          <a:prstGeom prst="rect">
            <a:avLst/>
          </a:prstGeom>
          <a:solidFill>
            <a:srgbClr val="0f1e35">
              <a:alpha val="75000"/>
            </a:srgbClr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Calibri"/>
              <a:ea typeface="Calibri"/>
            </a:endParaRPr>
          </a:p>
        </p:txBody>
      </p:sp>
      <p:sp>
        <p:nvSpPr>
          <p:cNvPr id="125" name="Text 28"/>
          <p:cNvSpPr/>
          <p:nvPr/>
        </p:nvSpPr>
        <p:spPr>
          <a:xfrm>
            <a:off x="365760" y="4884840"/>
            <a:ext cx="6856560" cy="1515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b0c0d0"/>
                </a:solidFill>
                <a:latin typeface="Calibri"/>
                <a:ea typeface="Calibri"/>
              </a:rPr>
              <a:t>Telepathy  |  Constructor Technology EEG Challenge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 29"/>
          <p:cNvSpPr/>
          <p:nvPr/>
        </p:nvSpPr>
        <p:spPr>
          <a:xfrm>
            <a:off x="8412480" y="4884840"/>
            <a:ext cx="455760" cy="1515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b0c0d0"/>
                </a:solidFill>
                <a:latin typeface="Calibri"/>
                <a:ea typeface="Calibri"/>
              </a:rPr>
              <a:t>3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Image 0" descr="Image 0"/>
          <p:cNvPicPr/>
          <p:nvPr/>
        </p:nvPicPr>
        <p:blipFill>
          <a:blip r:embed="rId1"/>
          <a:stretch/>
        </p:blipFill>
        <p:spPr>
          <a:xfrm>
            <a:off x="0" y="0"/>
            <a:ext cx="9142560" cy="5142240"/>
          </a:xfrm>
          <a:prstGeom prst="rect">
            <a:avLst/>
          </a:prstGeom>
          <a:ln w="12700">
            <a:noFill/>
          </a:ln>
        </p:spPr>
      </p:pic>
      <p:sp>
        <p:nvSpPr>
          <p:cNvPr id="128" name="Shape 0"/>
          <p:cNvSpPr/>
          <p:nvPr/>
        </p:nvSpPr>
        <p:spPr>
          <a:xfrm>
            <a:off x="320040" y="1051560"/>
            <a:ext cx="8502480" cy="3610440"/>
          </a:xfrm>
          <a:prstGeom prst="roundRect">
            <a:avLst>
              <a:gd name="adj" fmla="val 2532"/>
            </a:avLst>
          </a:prstGeom>
          <a:solidFill>
            <a:srgbClr val="0f1e35">
              <a:alpha val="80000"/>
            </a:srgbClr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Calibri"/>
              <a:ea typeface="Calibri"/>
            </a:endParaRPr>
          </a:p>
        </p:txBody>
      </p:sp>
      <p:sp>
        <p:nvSpPr>
          <p:cNvPr id="129" name="Text 1"/>
          <p:cNvSpPr/>
          <p:nvPr/>
        </p:nvSpPr>
        <p:spPr>
          <a:xfrm>
            <a:off x="411480" y="212040"/>
            <a:ext cx="8228160" cy="197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00" spc="389" strike="noStrike">
                <a:solidFill>
                  <a:srgbClr val="2ee5ba"/>
                </a:solidFill>
                <a:latin typeface="Calibri"/>
                <a:ea typeface="Calibri"/>
              </a:rPr>
              <a:t>OTHER APPROACHES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 2"/>
          <p:cNvSpPr/>
          <p:nvPr/>
        </p:nvSpPr>
        <p:spPr>
          <a:xfrm>
            <a:off x="411480" y="545760"/>
            <a:ext cx="8319600" cy="4258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  <a:ea typeface="Calibri"/>
              </a:rPr>
              <a:t>Why Ridge on raw EEG won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 3"/>
          <p:cNvSpPr/>
          <p:nvPr/>
        </p:nvSpPr>
        <p:spPr>
          <a:xfrm>
            <a:off x="502920" y="1387440"/>
            <a:ext cx="2924640" cy="2426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ee5ba"/>
                </a:solidFill>
                <a:latin typeface="Calibri"/>
                <a:ea typeface="Calibri"/>
              </a:rPr>
              <a:t>CCA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 4"/>
          <p:cNvSpPr/>
          <p:nvPr/>
        </p:nvSpPr>
        <p:spPr>
          <a:xfrm>
            <a:off x="3566160" y="1448280"/>
            <a:ext cx="5027760" cy="2124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100% train top-1, but test at chance (median rank ~50)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Text 5"/>
          <p:cNvSpPr/>
          <p:nvPr/>
        </p:nvSpPr>
        <p:spPr>
          <a:xfrm>
            <a:off x="502920" y="2164680"/>
            <a:ext cx="2924640" cy="2426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ee5ba"/>
                </a:solidFill>
                <a:latin typeface="Calibri"/>
                <a:ea typeface="Calibri"/>
              </a:rPr>
              <a:t>CLIP-style contrastive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Text 6"/>
          <p:cNvSpPr/>
          <p:nvPr/>
        </p:nvSpPr>
        <p:spPr>
          <a:xfrm>
            <a:off x="3566160" y="2225520"/>
            <a:ext cx="5027760" cy="2124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Heavy overfitting; memorizes training pairs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Text 7"/>
          <p:cNvSpPr/>
          <p:nvPr/>
        </p:nvSpPr>
        <p:spPr>
          <a:xfrm>
            <a:off x="502920" y="2941920"/>
            <a:ext cx="2924640" cy="2426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ee5ba"/>
                </a:solidFill>
                <a:latin typeface="Calibri"/>
                <a:ea typeface="Calibri"/>
              </a:rPr>
              <a:t>MLP regression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 8"/>
          <p:cNvSpPr/>
          <p:nvPr/>
        </p:nvSpPr>
        <p:spPr>
          <a:xfrm>
            <a:off x="3566160" y="3002760"/>
            <a:ext cx="5027760" cy="2124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Underfits; train already at chance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 9"/>
          <p:cNvSpPr/>
          <p:nvPr/>
        </p:nvSpPr>
        <p:spPr>
          <a:xfrm>
            <a:off x="502920" y="3719160"/>
            <a:ext cx="2924640" cy="2426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ee5ba"/>
                </a:solidFill>
                <a:latin typeface="Calibri"/>
                <a:ea typeface="Calibri"/>
              </a:rPr>
              <a:t>Ridge (submitted)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 10"/>
          <p:cNvSpPr/>
          <p:nvPr/>
        </p:nvSpPr>
        <p:spPr>
          <a:xfrm>
            <a:off x="3566160" y="3780000"/>
            <a:ext cx="5027760" cy="2124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Only method clearly above chance on test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11"/>
          <p:cNvSpPr/>
          <p:nvPr/>
        </p:nvSpPr>
        <p:spPr>
          <a:xfrm>
            <a:off x="0" y="4800600"/>
            <a:ext cx="9142560" cy="341640"/>
          </a:xfrm>
          <a:prstGeom prst="rect">
            <a:avLst/>
          </a:prstGeom>
          <a:solidFill>
            <a:srgbClr val="0f1e35">
              <a:alpha val="75000"/>
            </a:srgbClr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Calibri"/>
              <a:ea typeface="Calibri"/>
            </a:endParaRPr>
          </a:p>
        </p:txBody>
      </p:sp>
      <p:sp>
        <p:nvSpPr>
          <p:cNvPr id="140" name="Text 12"/>
          <p:cNvSpPr/>
          <p:nvPr/>
        </p:nvSpPr>
        <p:spPr>
          <a:xfrm>
            <a:off x="365760" y="4884840"/>
            <a:ext cx="6856560" cy="1515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b0c0d0"/>
                </a:solidFill>
                <a:latin typeface="Calibri"/>
                <a:ea typeface="Calibri"/>
              </a:rPr>
              <a:t>Telepathy  |  Constructor Technology EEG Challenge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 13"/>
          <p:cNvSpPr/>
          <p:nvPr/>
        </p:nvSpPr>
        <p:spPr>
          <a:xfrm>
            <a:off x="8412480" y="4884840"/>
            <a:ext cx="455760" cy="1515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b0c0d0"/>
                </a:solidFill>
                <a:latin typeface="Calibri"/>
                <a:ea typeface="Calibri"/>
              </a:rPr>
              <a:t>4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Image 0" descr="Image 0"/>
          <p:cNvPicPr/>
          <p:nvPr/>
        </p:nvPicPr>
        <p:blipFill>
          <a:blip r:embed="rId1"/>
          <a:stretch/>
        </p:blipFill>
        <p:spPr>
          <a:xfrm>
            <a:off x="0" y="0"/>
            <a:ext cx="9142560" cy="5142240"/>
          </a:xfrm>
          <a:prstGeom prst="rect">
            <a:avLst/>
          </a:prstGeom>
          <a:ln w="12700">
            <a:noFill/>
          </a:ln>
        </p:spPr>
      </p:pic>
      <p:sp>
        <p:nvSpPr>
          <p:cNvPr id="143" name="Shape 0"/>
          <p:cNvSpPr/>
          <p:nvPr/>
        </p:nvSpPr>
        <p:spPr>
          <a:xfrm>
            <a:off x="320040" y="1051560"/>
            <a:ext cx="8502480" cy="3610440"/>
          </a:xfrm>
          <a:prstGeom prst="roundRect">
            <a:avLst>
              <a:gd name="adj" fmla="val 2532"/>
            </a:avLst>
          </a:prstGeom>
          <a:solidFill>
            <a:srgbClr val="0f1e35">
              <a:alpha val="80000"/>
            </a:srgbClr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Calibri"/>
              <a:ea typeface="Calibri"/>
            </a:endParaRPr>
          </a:p>
        </p:txBody>
      </p:sp>
      <p:sp>
        <p:nvSpPr>
          <p:cNvPr id="144" name="Text 1"/>
          <p:cNvSpPr/>
          <p:nvPr/>
        </p:nvSpPr>
        <p:spPr>
          <a:xfrm>
            <a:off x="411480" y="212040"/>
            <a:ext cx="8228160" cy="197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00" spc="389" strike="noStrike">
                <a:solidFill>
                  <a:srgbClr val="2ee5ba"/>
                </a:solidFill>
                <a:latin typeface="Calibri"/>
                <a:ea typeface="Calibri"/>
              </a:rPr>
              <a:t>KEY TAKEAWAYS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 2"/>
          <p:cNvSpPr/>
          <p:nvPr/>
        </p:nvSpPr>
        <p:spPr>
          <a:xfrm>
            <a:off x="411480" y="545760"/>
            <a:ext cx="8319600" cy="4258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  <a:ea typeface="Calibri"/>
              </a:rPr>
              <a:t>What we learned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 3"/>
          <p:cNvSpPr/>
          <p:nvPr/>
        </p:nvSpPr>
        <p:spPr>
          <a:xfrm>
            <a:off x="502920" y="1439640"/>
            <a:ext cx="8045280" cy="2278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▸  </a:t>
            </a: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Strong regularization (α ≈ 10⁴–10⁵) was critical for generalization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Text 4"/>
          <p:cNvSpPr/>
          <p:nvPr/>
        </p:nvSpPr>
        <p:spPr>
          <a:xfrm>
            <a:off x="502920" y="2034000"/>
            <a:ext cx="8045280" cy="2278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▸  </a:t>
            </a: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Ensemble of video features beat any single source on test top-1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Text 5"/>
          <p:cNvSpPr/>
          <p:nvPr/>
        </p:nvSpPr>
        <p:spPr>
          <a:xfrm>
            <a:off x="502920" y="2628360"/>
            <a:ext cx="8045280" cy="2278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▸  </a:t>
            </a: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Learned EEG embeddings (LaBraM, LUNA, CBraMod) overfit more easily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 7"/>
          <p:cNvSpPr/>
          <p:nvPr/>
        </p:nvSpPr>
        <p:spPr>
          <a:xfrm>
            <a:off x="502920" y="3169080"/>
            <a:ext cx="8045280" cy="2278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▸  </a:t>
            </a: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DINO features gave the strongest single-model performance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Shape 8"/>
          <p:cNvSpPr/>
          <p:nvPr/>
        </p:nvSpPr>
        <p:spPr>
          <a:xfrm>
            <a:off x="0" y="4800600"/>
            <a:ext cx="9142560" cy="341640"/>
          </a:xfrm>
          <a:prstGeom prst="rect">
            <a:avLst/>
          </a:prstGeom>
          <a:solidFill>
            <a:srgbClr val="0f1e35">
              <a:alpha val="75000"/>
            </a:srgbClr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Calibri"/>
              <a:ea typeface="Calibri"/>
            </a:endParaRPr>
          </a:p>
        </p:txBody>
      </p:sp>
      <p:sp>
        <p:nvSpPr>
          <p:cNvPr id="151" name="Text 9"/>
          <p:cNvSpPr/>
          <p:nvPr/>
        </p:nvSpPr>
        <p:spPr>
          <a:xfrm>
            <a:off x="365760" y="4884840"/>
            <a:ext cx="6856560" cy="1515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b0c0d0"/>
                </a:solidFill>
                <a:latin typeface="Calibri"/>
                <a:ea typeface="Calibri"/>
              </a:rPr>
              <a:t>Telepathy  |  Constructor Technology EEG Challenge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 10"/>
          <p:cNvSpPr/>
          <p:nvPr/>
        </p:nvSpPr>
        <p:spPr>
          <a:xfrm>
            <a:off x="8412480" y="4884840"/>
            <a:ext cx="455760" cy="1515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b0c0d0"/>
                </a:solidFill>
                <a:latin typeface="Calibri"/>
                <a:ea typeface="Calibri"/>
              </a:rPr>
              <a:t>5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Image 0" descr="Image 0"/>
          <p:cNvPicPr/>
          <p:nvPr/>
        </p:nvPicPr>
        <p:blipFill>
          <a:blip r:embed="rId1"/>
          <a:stretch/>
        </p:blipFill>
        <p:spPr>
          <a:xfrm>
            <a:off x="0" y="0"/>
            <a:ext cx="9142560" cy="5142240"/>
          </a:xfrm>
          <a:prstGeom prst="rect">
            <a:avLst/>
          </a:prstGeom>
          <a:ln w="12700">
            <a:noFill/>
          </a:ln>
        </p:spPr>
      </p:pic>
      <p:sp>
        <p:nvSpPr>
          <p:cNvPr id="154" name="Shape 0"/>
          <p:cNvSpPr/>
          <p:nvPr/>
        </p:nvSpPr>
        <p:spPr>
          <a:xfrm>
            <a:off x="0" y="0"/>
            <a:ext cx="9142560" cy="71640"/>
          </a:xfrm>
          <a:prstGeom prst="rect">
            <a:avLst/>
          </a:prstGeom>
          <a:solidFill>
            <a:srgbClr val="2ee5ba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8080" bIns="2808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Calibri"/>
              <a:ea typeface="Calibri"/>
            </a:endParaRPr>
          </a:p>
        </p:txBody>
      </p:sp>
      <p:sp>
        <p:nvSpPr>
          <p:cNvPr id="155" name="Text 1"/>
          <p:cNvSpPr/>
          <p:nvPr/>
        </p:nvSpPr>
        <p:spPr>
          <a:xfrm>
            <a:off x="411480" y="1631160"/>
            <a:ext cx="4570560" cy="7610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5000" spc="-1" strike="noStrike">
                <a:solidFill>
                  <a:srgbClr val="ffffff"/>
                </a:solidFill>
                <a:latin typeface="Calibri"/>
                <a:ea typeface="Calibri"/>
              </a:rPr>
              <a:t>Telepathy</a:t>
            </a:r>
            <a:endParaRPr b="0" lang="en-US" sz="5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Text 2"/>
          <p:cNvSpPr/>
          <p:nvPr/>
        </p:nvSpPr>
        <p:spPr>
          <a:xfrm>
            <a:off x="411480" y="2621520"/>
            <a:ext cx="4570560" cy="3344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2ee5ba"/>
                </a:solidFill>
                <a:latin typeface="Calibri"/>
                <a:ea typeface="Calibri"/>
              </a:rPr>
              <a:t>Decoding what the mind sees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 3"/>
          <p:cNvSpPr/>
          <p:nvPr/>
        </p:nvSpPr>
        <p:spPr>
          <a:xfrm>
            <a:off x="411480" y="3246120"/>
            <a:ext cx="4570560" cy="2736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94a3b8"/>
                </a:solidFill>
                <a:latin typeface="Calibri"/>
                <a:ea typeface="Calibri"/>
              </a:rPr>
              <a:t>Thank you!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Shape 4"/>
          <p:cNvSpPr/>
          <p:nvPr/>
        </p:nvSpPr>
        <p:spPr>
          <a:xfrm>
            <a:off x="0" y="4800600"/>
            <a:ext cx="9142560" cy="341640"/>
          </a:xfrm>
          <a:prstGeom prst="rect">
            <a:avLst/>
          </a:prstGeom>
          <a:solidFill>
            <a:srgbClr val="0f1e35">
              <a:alpha val="75000"/>
            </a:srgbClr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Calibri"/>
              <a:ea typeface="Calibri"/>
            </a:endParaRPr>
          </a:p>
        </p:txBody>
      </p:sp>
      <p:sp>
        <p:nvSpPr>
          <p:cNvPr id="159" name="Text 5"/>
          <p:cNvSpPr/>
          <p:nvPr/>
        </p:nvSpPr>
        <p:spPr>
          <a:xfrm>
            <a:off x="365760" y="4884840"/>
            <a:ext cx="6856560" cy="1515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b0c0d0"/>
                </a:solidFill>
                <a:latin typeface="Calibri"/>
                <a:ea typeface="Calibri"/>
              </a:rPr>
              <a:t>Telepathy  |  Constructor Technology EEG Challenge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2026-10-18T23:26:40Z</dcterms:modified>
  <cp:revision>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