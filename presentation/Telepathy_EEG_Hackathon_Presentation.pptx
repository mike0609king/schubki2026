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2C190B2-1EE5-4A38-8919-8899FC8173C1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E122FB2-54E0-4831-8F86-F05CC5815E4F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C047F8A-D9AA-4ECC-9BAB-C581EBB3632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8A3B0CE-62CE-4E1C-A1EE-00FA33B0656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30EC3F6-17D9-4A55-8FD5-8E772F4E7966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AF96FC7-0501-48D4-8EA6-78670994DD07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A615F2B-C8E9-45A5-835A-5767B294BED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AAA6143-713D-4AA2-A5E2-200D6F7EEB75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EFE50BE-B44E-405F-AB68-2EF577F37CBD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8D7F2EE-8DDF-452E-AF15-195F83443D7F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DA78595-AC28-4A10-A771-D93342C8CF3B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3C6EA40-FFC1-4567-9632-52AD1C5FDA7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 descr="Image 0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12700">
            <a:noFill/>
          </a:ln>
        </p:spPr>
      </p:pic>
      <p:sp>
        <p:nvSpPr>
          <p:cNvPr id="4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2ee5b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8080" bIns="280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41" name="Text 1"/>
          <p:cNvSpPr/>
          <p:nvPr/>
        </p:nvSpPr>
        <p:spPr>
          <a:xfrm>
            <a:off x="365760" y="1166400"/>
            <a:ext cx="4754520" cy="181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2ee5ba"/>
                </a:solidFill>
                <a:latin typeface="Calibri"/>
                <a:ea typeface="Calibri"/>
              </a:rPr>
              <a:t>CONSTRUCTOR TECHNOLOGY  ·  EEG MIND READING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365760" y="1524600"/>
            <a:ext cx="4754520" cy="791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Telepathy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352800" y="2950200"/>
            <a:ext cx="4388760" cy="547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94a3b8"/>
                </a:solidFill>
                <a:latin typeface="Calibri"/>
                <a:ea typeface="Calibri"/>
              </a:rPr>
              <a:t>Decoding visual perception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94a3b8"/>
                </a:solidFill>
                <a:latin typeface="Calibri"/>
                <a:ea typeface="Calibri"/>
              </a:rPr>
              <a:t>from EEG signals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4"/>
          <p:cNvSpPr/>
          <p:nvPr/>
        </p:nvSpPr>
        <p:spPr>
          <a:xfrm>
            <a:off x="365400" y="3685680"/>
            <a:ext cx="1463400" cy="0"/>
          </a:xfrm>
          <a:prstGeom prst="line">
            <a:avLst/>
          </a:prstGeom>
          <a:ln w="31750">
            <a:solidFill>
              <a:srgbClr val="2ee5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-45000" bIns="-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45" name="Text 5"/>
          <p:cNvSpPr/>
          <p:nvPr/>
        </p:nvSpPr>
        <p:spPr>
          <a:xfrm>
            <a:off x="352800" y="3860280"/>
            <a:ext cx="4114440" cy="227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Hackathon Pitch  ·  October 2026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0" y="4800600"/>
            <a:ext cx="9143640" cy="34272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47" name="Text 7"/>
          <p:cNvSpPr/>
          <p:nvPr/>
        </p:nvSpPr>
        <p:spPr>
          <a:xfrm>
            <a:off x="365760" y="4884840"/>
            <a:ext cx="68576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Telepathy  |  Constructor Technology EEG 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Yetkin Zambelli | Mike Mengjie Huang"/>
          <p:cNvSpPr/>
          <p:nvPr/>
        </p:nvSpPr>
        <p:spPr>
          <a:xfrm>
            <a:off x="337680" y="2336400"/>
            <a:ext cx="3673800" cy="36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Yetkin Zambelli | Mike Mengjie Huang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Image 0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12700">
            <a:noFill/>
          </a:ln>
        </p:spPr>
      </p:pic>
      <p:sp>
        <p:nvSpPr>
          <p:cNvPr id="50" name="Shape 0"/>
          <p:cNvSpPr/>
          <p:nvPr/>
        </p:nvSpPr>
        <p:spPr>
          <a:xfrm>
            <a:off x="320040" y="1051560"/>
            <a:ext cx="8503560" cy="361152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51" name="Text 1"/>
          <p:cNvSpPr/>
          <p:nvPr/>
        </p:nvSpPr>
        <p:spPr>
          <a:xfrm>
            <a:off x="411480" y="212040"/>
            <a:ext cx="822924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98" strike="noStrike">
                <a:solidFill>
                  <a:srgbClr val="2ee5ba"/>
                </a:solidFill>
                <a:latin typeface="Calibri"/>
                <a:ea typeface="Calibri"/>
              </a:rPr>
              <a:t>ML PIPELINE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411480" y="545760"/>
            <a:ext cx="8320680" cy="425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Preprocessing → Features → Classification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502920" y="1325880"/>
            <a:ext cx="685440" cy="273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ee5ba"/>
                </a:solidFill>
                <a:latin typeface="Calibri"/>
                <a:ea typeface="Calibri"/>
              </a:rPr>
              <a:t>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1280160" y="1318680"/>
            <a:ext cx="210276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Preprocessing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3474720" y="1296000"/>
            <a:ext cx="5120280" cy="425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Bandpass 0.5–75 Hz + 50 Hz notch (on top of provided filter &amp; blink removal)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502920" y="2130840"/>
            <a:ext cx="685440" cy="273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ee5ba"/>
                </a:solidFill>
                <a:latin typeface="Calibri"/>
                <a:ea typeface="Calibri"/>
              </a:rPr>
              <a:t>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1280160" y="2123280"/>
            <a:ext cx="210276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EEG Features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3474720" y="2207160"/>
            <a:ext cx="512028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LaBraM, modified LaBraM (3s), LUNA, CBraMod + engineered features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502920" y="2935440"/>
            <a:ext cx="685440" cy="273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ee5ba"/>
                </a:solidFill>
                <a:latin typeface="Calibri"/>
                <a:ea typeface="Calibri"/>
              </a:rPr>
              <a:t>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1280160" y="2927880"/>
            <a:ext cx="210276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Video Features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3474720" y="3011760"/>
            <a:ext cx="512028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OpenCLIP, DINOv2, AlexNet embeddings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2"/>
          <p:cNvSpPr/>
          <p:nvPr/>
        </p:nvSpPr>
        <p:spPr>
          <a:xfrm>
            <a:off x="502920" y="3740040"/>
            <a:ext cx="685440" cy="273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ee5ba"/>
                </a:solidFill>
                <a:latin typeface="Calibri"/>
                <a:ea typeface="Calibri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1280160" y="3732840"/>
            <a:ext cx="210276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Classification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3474720" y="3709800"/>
            <a:ext cx="5120280" cy="425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Per-subject RidgeCV: map video features → EEG response, rank by Pearson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5"/>
          <p:cNvSpPr/>
          <p:nvPr/>
        </p:nvSpPr>
        <p:spPr>
          <a:xfrm>
            <a:off x="0" y="4800600"/>
            <a:ext cx="9143640" cy="34272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365760" y="4884840"/>
            <a:ext cx="68576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Telepathy  |  Constructor Technology EEG 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7"/>
          <p:cNvSpPr/>
          <p:nvPr/>
        </p:nvSpPr>
        <p:spPr>
          <a:xfrm>
            <a:off x="8412480" y="4884840"/>
            <a:ext cx="4568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0" descr="Image 0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12700">
            <a:noFill/>
          </a:ln>
        </p:spPr>
      </p:pic>
      <p:sp>
        <p:nvSpPr>
          <p:cNvPr id="69" name="Shape 0"/>
          <p:cNvSpPr/>
          <p:nvPr/>
        </p:nvSpPr>
        <p:spPr>
          <a:xfrm>
            <a:off x="320040" y="1051560"/>
            <a:ext cx="8503560" cy="361152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11480" y="212040"/>
            <a:ext cx="822924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98" strike="noStrike">
                <a:solidFill>
                  <a:srgbClr val="2ee5ba"/>
                </a:solidFill>
                <a:latin typeface="Calibri"/>
                <a:ea typeface="Calibri"/>
              </a:rPr>
              <a:t>CLASSIFICATION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411480" y="545760"/>
            <a:ext cx="8320680" cy="425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Ridge regression on raw EEG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502920" y="1326240"/>
            <a:ext cx="2559960" cy="227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ee5ba"/>
                </a:solidFill>
                <a:latin typeface="Calibri"/>
                <a:ea typeface="Calibri"/>
              </a:rPr>
              <a:t>Per-subject RidgeCV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3200400" y="1379880"/>
            <a:ext cx="530316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5-fold CV, alphas = logspace(-3, 6, 10)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502920" y="1966320"/>
            <a:ext cx="2559960" cy="227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ee5ba"/>
                </a:solidFill>
                <a:latin typeface="Calibri"/>
                <a:ea typeface="Calibri"/>
              </a:rPr>
              <a:t>Mapping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3200400" y="2019960"/>
            <a:ext cx="530316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PCA video features → full EEG response (17 ch × 300 samples)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502920" y="2606400"/>
            <a:ext cx="2559960" cy="227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ee5ba"/>
                </a:solidFill>
                <a:latin typeface="Calibri"/>
                <a:ea typeface="Calibri"/>
              </a:rPr>
              <a:t>Selected alphas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3200400" y="2660040"/>
            <a:ext cx="530316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1e4 or 1e5 depending on subject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502920" y="3246480"/>
            <a:ext cx="2559960" cy="227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ee5ba"/>
                </a:solidFill>
                <a:latin typeface="Calibri"/>
                <a:ea typeface="Calibri"/>
              </a:rPr>
              <a:t>Retrieval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3200400" y="3300120"/>
            <a:ext cx="530316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Predict EEG for each of 102 candidates, rank by Pearson correlation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502920" y="3886560"/>
            <a:ext cx="2559960" cy="227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ee5ba"/>
                </a:solidFill>
                <a:latin typeface="Calibri"/>
                <a:ea typeface="Calibri"/>
              </a:rPr>
              <a:t>Why it worked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3200400" y="3940200"/>
            <a:ext cx="530316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Strong regularization helped generalization; learned models overfit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0" y="4800600"/>
            <a:ext cx="9143640" cy="34272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365760" y="4884840"/>
            <a:ext cx="68576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Telepathy  |  Constructor Technology EEG 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8412480" y="4884840"/>
            <a:ext cx="4568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 0" descr="Image 0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12700">
            <a:noFill/>
          </a:ln>
        </p:spPr>
      </p:pic>
      <p:sp>
        <p:nvSpPr>
          <p:cNvPr id="86" name="Shape 0"/>
          <p:cNvSpPr/>
          <p:nvPr/>
        </p:nvSpPr>
        <p:spPr>
          <a:xfrm>
            <a:off x="320040" y="1051560"/>
            <a:ext cx="8503560" cy="361152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87" name="Text 1"/>
          <p:cNvSpPr/>
          <p:nvPr/>
        </p:nvSpPr>
        <p:spPr>
          <a:xfrm>
            <a:off x="411480" y="212040"/>
            <a:ext cx="822924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98" strike="noStrike">
                <a:solidFill>
                  <a:srgbClr val="2ee5ba"/>
                </a:solidFill>
                <a:latin typeface="Calibri"/>
                <a:ea typeface="Calibri"/>
              </a:rPr>
              <a:t>RESULTS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411480" y="545760"/>
            <a:ext cx="8320680" cy="425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Test retrieval (102 candidates)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502920" y="1272600"/>
            <a:ext cx="777204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  <a:ea typeface="Calibri"/>
              </a:rPr>
              <a:t>Chance: Top-1 = 0.98%  ·  Top-5 = 4.9%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548640" y="1638360"/>
            <a:ext cx="137124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e5ba"/>
                </a:solidFill>
                <a:latin typeface="Calibri"/>
                <a:ea typeface="Calibri"/>
              </a:rPr>
              <a:t>Subject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2194560" y="1638360"/>
            <a:ext cx="137124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e5ba"/>
                </a:solidFill>
                <a:latin typeface="Calibri"/>
                <a:ea typeface="Calibri"/>
              </a:rPr>
              <a:t>Top-1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3840480" y="1638360"/>
            <a:ext cx="137124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e5ba"/>
                </a:solidFill>
                <a:latin typeface="Calibri"/>
                <a:ea typeface="Calibri"/>
              </a:rPr>
              <a:t>Top-5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5486400" y="1638360"/>
            <a:ext cx="228564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e5ba"/>
                </a:solidFill>
                <a:latin typeface="Calibri"/>
                <a:ea typeface="Calibri"/>
              </a:rPr>
              <a:t>Median Rank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548640" y="2027520"/>
            <a:ext cx="13712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2194560" y="2027520"/>
            <a:ext cx="13712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5.9%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3840480" y="2027520"/>
            <a:ext cx="13712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24.5%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5486400" y="2027520"/>
            <a:ext cx="22856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15.0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548640" y="2530440"/>
            <a:ext cx="13712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2194560" y="2530440"/>
            <a:ext cx="13712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3.9%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3840480" y="2530440"/>
            <a:ext cx="13712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24.5%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5486400" y="2530440"/>
            <a:ext cx="22856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19.5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548640" y="3033360"/>
            <a:ext cx="13712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7"/>
          <p:cNvSpPr/>
          <p:nvPr/>
        </p:nvSpPr>
        <p:spPr>
          <a:xfrm>
            <a:off x="2194560" y="3033360"/>
            <a:ext cx="13712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4.9%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3840480" y="3033360"/>
            <a:ext cx="13712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17.7%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9"/>
          <p:cNvSpPr/>
          <p:nvPr/>
        </p:nvSpPr>
        <p:spPr>
          <a:xfrm>
            <a:off x="5486400" y="3033360"/>
            <a:ext cx="22856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20.5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0"/>
          <p:cNvSpPr/>
          <p:nvPr/>
        </p:nvSpPr>
        <p:spPr>
          <a:xfrm>
            <a:off x="548640" y="3536280"/>
            <a:ext cx="13712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1"/>
          <p:cNvSpPr/>
          <p:nvPr/>
        </p:nvSpPr>
        <p:spPr>
          <a:xfrm>
            <a:off x="2194560" y="3536280"/>
            <a:ext cx="13712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4.9%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2"/>
          <p:cNvSpPr/>
          <p:nvPr/>
        </p:nvSpPr>
        <p:spPr>
          <a:xfrm>
            <a:off x="3840480" y="3536280"/>
            <a:ext cx="13712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14.7%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23"/>
          <p:cNvSpPr/>
          <p:nvPr/>
        </p:nvSpPr>
        <p:spPr>
          <a:xfrm>
            <a:off x="5486400" y="3536280"/>
            <a:ext cx="228564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22.5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4"/>
          <p:cNvSpPr/>
          <p:nvPr/>
        </p:nvSpPr>
        <p:spPr>
          <a:xfrm>
            <a:off x="0" y="4800600"/>
            <a:ext cx="9143640" cy="34272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11" name="Text 25"/>
          <p:cNvSpPr/>
          <p:nvPr/>
        </p:nvSpPr>
        <p:spPr>
          <a:xfrm>
            <a:off x="365760" y="4884840"/>
            <a:ext cx="68576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Telepathy  |  Constructor Technology EEG 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6"/>
          <p:cNvSpPr/>
          <p:nvPr/>
        </p:nvSpPr>
        <p:spPr>
          <a:xfrm>
            <a:off x="8412480" y="4884840"/>
            <a:ext cx="4568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0" descr="Image 0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12700">
            <a:noFill/>
          </a:ln>
        </p:spPr>
      </p:pic>
      <p:sp>
        <p:nvSpPr>
          <p:cNvPr id="114" name="Shape 0"/>
          <p:cNvSpPr/>
          <p:nvPr/>
        </p:nvSpPr>
        <p:spPr>
          <a:xfrm>
            <a:off x="320040" y="1051560"/>
            <a:ext cx="8503560" cy="361152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411480" y="212040"/>
            <a:ext cx="822924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98" strike="noStrike">
                <a:solidFill>
                  <a:srgbClr val="2ee5ba"/>
                </a:solidFill>
                <a:latin typeface="Calibri"/>
                <a:ea typeface="Calibri"/>
              </a:rPr>
              <a:t>FEATURE ABLATION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411480" y="545760"/>
            <a:ext cx="8320680" cy="425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Subject 1 — what worked best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502920" y="1318320"/>
            <a:ext cx="292572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e5ba"/>
                </a:solidFill>
                <a:latin typeface="Calibri"/>
                <a:ea typeface="Calibri"/>
              </a:rPr>
              <a:t>Features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3566160" y="1318320"/>
            <a:ext cx="146268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e5ba"/>
                </a:solidFill>
                <a:latin typeface="Calibri"/>
                <a:ea typeface="Calibri"/>
              </a:rPr>
              <a:t>Test Top-1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5120640" y="1318320"/>
            <a:ext cx="146268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e5ba"/>
                </a:solidFill>
                <a:latin typeface="Calibri"/>
                <a:ea typeface="Calibri"/>
              </a:rPr>
              <a:t>Test Top-5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6675120" y="1318320"/>
            <a:ext cx="164556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e5ba"/>
                </a:solidFill>
                <a:latin typeface="Calibri"/>
                <a:ea typeface="Calibri"/>
              </a:rPr>
              <a:t>Median Rank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502920" y="1722600"/>
            <a:ext cx="292572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AlexNet features.3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3566160" y="1722600"/>
            <a:ext cx="146268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3.9%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5120640" y="1722600"/>
            <a:ext cx="146268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11.8%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6675120" y="1722600"/>
            <a:ext cx="164556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25.5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502920" y="2252880"/>
            <a:ext cx="292572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DINO blocks.6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3566160" y="2252880"/>
            <a:ext cx="146268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4.9%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5120640" y="2252880"/>
            <a:ext cx="146268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30.4%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4"/>
          <p:cNvSpPr/>
          <p:nvPr/>
        </p:nvSpPr>
        <p:spPr>
          <a:xfrm>
            <a:off x="6675120" y="2252880"/>
            <a:ext cx="164556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13.0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5"/>
          <p:cNvSpPr/>
          <p:nvPr/>
        </p:nvSpPr>
        <p:spPr>
          <a:xfrm>
            <a:off x="502920" y="2783160"/>
            <a:ext cx="292572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CLIP resblocks.6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6"/>
          <p:cNvSpPr/>
          <p:nvPr/>
        </p:nvSpPr>
        <p:spPr>
          <a:xfrm>
            <a:off x="3566160" y="2783160"/>
            <a:ext cx="146268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3.9%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7"/>
          <p:cNvSpPr/>
          <p:nvPr/>
        </p:nvSpPr>
        <p:spPr>
          <a:xfrm>
            <a:off x="5120640" y="2783160"/>
            <a:ext cx="146268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16.7%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8"/>
          <p:cNvSpPr/>
          <p:nvPr/>
        </p:nvSpPr>
        <p:spPr>
          <a:xfrm>
            <a:off x="6675120" y="2783160"/>
            <a:ext cx="164556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17.0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9"/>
          <p:cNvSpPr/>
          <p:nvPr/>
        </p:nvSpPr>
        <p:spPr>
          <a:xfrm>
            <a:off x="502920" y="3313800"/>
            <a:ext cx="292572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CLIP resblocks.7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0"/>
          <p:cNvSpPr/>
          <p:nvPr/>
        </p:nvSpPr>
        <p:spPr>
          <a:xfrm>
            <a:off x="3566160" y="3313800"/>
            <a:ext cx="146268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4.9%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1"/>
          <p:cNvSpPr/>
          <p:nvPr/>
        </p:nvSpPr>
        <p:spPr>
          <a:xfrm>
            <a:off x="5120640" y="3313800"/>
            <a:ext cx="146268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21.6%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2"/>
          <p:cNvSpPr/>
          <p:nvPr/>
        </p:nvSpPr>
        <p:spPr>
          <a:xfrm>
            <a:off x="6675120" y="3313800"/>
            <a:ext cx="164556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14.0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3"/>
          <p:cNvSpPr/>
          <p:nvPr/>
        </p:nvSpPr>
        <p:spPr>
          <a:xfrm>
            <a:off x="502920" y="3844080"/>
            <a:ext cx="292572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Ensemble (submitted)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4"/>
          <p:cNvSpPr/>
          <p:nvPr/>
        </p:nvSpPr>
        <p:spPr>
          <a:xfrm>
            <a:off x="3566160" y="3844080"/>
            <a:ext cx="146268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5.9%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25"/>
          <p:cNvSpPr/>
          <p:nvPr/>
        </p:nvSpPr>
        <p:spPr>
          <a:xfrm>
            <a:off x="5120640" y="3844080"/>
            <a:ext cx="146268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26.5%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6"/>
          <p:cNvSpPr/>
          <p:nvPr/>
        </p:nvSpPr>
        <p:spPr>
          <a:xfrm>
            <a:off x="6675120" y="3844080"/>
            <a:ext cx="164556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14.0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7"/>
          <p:cNvSpPr/>
          <p:nvPr/>
        </p:nvSpPr>
        <p:spPr>
          <a:xfrm>
            <a:off x="0" y="4800600"/>
            <a:ext cx="9143640" cy="34272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42" name="Text 28"/>
          <p:cNvSpPr/>
          <p:nvPr/>
        </p:nvSpPr>
        <p:spPr>
          <a:xfrm>
            <a:off x="365760" y="4884840"/>
            <a:ext cx="68576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Telepathy  |  Constructor Technology EEG 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9"/>
          <p:cNvSpPr/>
          <p:nvPr/>
        </p:nvSpPr>
        <p:spPr>
          <a:xfrm>
            <a:off x="8412480" y="4884840"/>
            <a:ext cx="4568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Image 0" descr="Image 0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12700">
            <a:noFill/>
          </a:ln>
        </p:spPr>
      </p:pic>
      <p:sp>
        <p:nvSpPr>
          <p:cNvPr id="145" name="Shape 0"/>
          <p:cNvSpPr/>
          <p:nvPr/>
        </p:nvSpPr>
        <p:spPr>
          <a:xfrm>
            <a:off x="320040" y="1051560"/>
            <a:ext cx="8503560" cy="361152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411480" y="212040"/>
            <a:ext cx="822924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98" strike="noStrike">
                <a:solidFill>
                  <a:srgbClr val="2ee5ba"/>
                </a:solidFill>
                <a:latin typeface="Calibri"/>
                <a:ea typeface="Calibri"/>
              </a:rPr>
              <a:t>OTHER APPROACHES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411480" y="545760"/>
            <a:ext cx="8320680" cy="425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Why Ridge on raw EEG won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502920" y="1387440"/>
            <a:ext cx="292572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ee5ba"/>
                </a:solidFill>
                <a:latin typeface="Calibri"/>
                <a:ea typeface="Calibri"/>
              </a:rPr>
              <a:t>CCA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3566160" y="1448280"/>
            <a:ext cx="502884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100% train top-1, but test at chance (median rank ~50)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502920" y="2164680"/>
            <a:ext cx="292572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ee5ba"/>
                </a:solidFill>
                <a:latin typeface="Calibri"/>
                <a:ea typeface="Calibri"/>
              </a:rPr>
              <a:t>CLIP-style contrastive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3566160" y="2225520"/>
            <a:ext cx="502884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Heavy overfitting — memorizes training pairs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502920" y="2941920"/>
            <a:ext cx="292572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ee5ba"/>
                </a:solidFill>
                <a:latin typeface="Calibri"/>
                <a:ea typeface="Calibri"/>
              </a:rPr>
              <a:t>MLP regression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3566160" y="3002760"/>
            <a:ext cx="502884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Underfits; train already at chance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502920" y="3719160"/>
            <a:ext cx="2925720" cy="24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ee5ba"/>
                </a:solidFill>
                <a:latin typeface="Calibri"/>
                <a:ea typeface="Calibri"/>
              </a:rPr>
              <a:t>Ridge (submitted)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3566160" y="3780000"/>
            <a:ext cx="5028840" cy="21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Only method clearly above chance on test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1"/>
          <p:cNvSpPr/>
          <p:nvPr/>
        </p:nvSpPr>
        <p:spPr>
          <a:xfrm>
            <a:off x="0" y="4800600"/>
            <a:ext cx="9143640" cy="34272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365760" y="4884840"/>
            <a:ext cx="68576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Telepathy  |  Constructor Technology EEG 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8412480" y="4884840"/>
            <a:ext cx="4568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age 0" descr="Image 0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12700">
            <a:noFill/>
          </a:ln>
        </p:spPr>
      </p:pic>
      <p:sp>
        <p:nvSpPr>
          <p:cNvPr id="160" name="Shape 0"/>
          <p:cNvSpPr/>
          <p:nvPr/>
        </p:nvSpPr>
        <p:spPr>
          <a:xfrm>
            <a:off x="320040" y="1051560"/>
            <a:ext cx="8503560" cy="361152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11480" y="212040"/>
            <a:ext cx="8229240" cy="197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98" strike="noStrike">
                <a:solidFill>
                  <a:srgbClr val="2ee5ba"/>
                </a:solidFill>
                <a:latin typeface="Calibri"/>
                <a:ea typeface="Calibri"/>
              </a:rPr>
              <a:t>KEY TAKEAWAYS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411480" y="545760"/>
            <a:ext cx="8320680" cy="425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What we learned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502920" y="1439640"/>
            <a:ext cx="8046360" cy="228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Strong regularization (α ≈ 10⁴–10⁵) was critical for generalization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502920" y="2034000"/>
            <a:ext cx="8046360" cy="228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Ensemble of video features beat any single source on test top-1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502920" y="2628360"/>
            <a:ext cx="8046360" cy="228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Learned EEG embeddings (LaBraM, LUNA, CBraMod) overfit more easily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502920" y="3222720"/>
            <a:ext cx="8046360" cy="228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Raw (decimated) EEG + Ridge was more robust than complex models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502920" y="3817080"/>
            <a:ext cx="8046360" cy="228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DINO features gave the strongest single-model top-5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0" y="4800600"/>
            <a:ext cx="9143640" cy="34272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365760" y="4884840"/>
            <a:ext cx="68576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Telepathy  |  Constructor Technology EEG 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8412480" y="4884840"/>
            <a:ext cx="4568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mage 0" descr="Image 0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12700">
            <a:noFill/>
          </a:ln>
        </p:spPr>
      </p:pic>
      <p:sp>
        <p:nvSpPr>
          <p:cNvPr id="172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2ee5b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8080" bIns="280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11480" y="1631160"/>
            <a:ext cx="457164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ffffff"/>
                </a:solidFill>
                <a:latin typeface="Calibri"/>
                <a:ea typeface="Calibri"/>
              </a:rPr>
              <a:t>Telepathy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411480" y="2621520"/>
            <a:ext cx="4571640" cy="334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2ee5ba"/>
                </a:solidFill>
                <a:latin typeface="Calibri"/>
                <a:ea typeface="Calibri"/>
              </a:rPr>
              <a:t>Decoding what the mind sees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11480" y="3246120"/>
            <a:ext cx="4571640" cy="273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94a3b8"/>
                </a:solidFill>
                <a:latin typeface="Calibri"/>
                <a:ea typeface="Calibri"/>
              </a:rPr>
              <a:t>Thank you!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0" y="4800600"/>
            <a:ext cx="9143640" cy="34272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365760" y="4884840"/>
            <a:ext cx="6857640" cy="15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0d0"/>
                </a:solidFill>
                <a:latin typeface="Calibri"/>
                <a:ea typeface="Calibri"/>
              </a:rPr>
              <a:t>Telepathy  |  Constructor Technology EEG 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2026-10-18T21:47:48Z</dcterms:modified>
  <cp:revision>1</cp:revision>
  <dc:subject/>
  <dc:title/>
</cp:coreProperties>
</file>